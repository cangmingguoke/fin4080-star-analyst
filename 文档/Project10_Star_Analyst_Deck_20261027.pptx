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不自我介绍。开场直接说：过去七年，中国分析师对 A 股做了 20,980 次评级调整，其中 13.2% 来自新财富明星分析师。我们要问的是，市场在反应信息，还是在反应标签。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美国文献给机制，中国给一个机制更容易被看见的市场。散户换手高，T+1 和涨跌停让套利更贵，新财富提供每年更新、公开可查的明星标签。我们不是说中国特殊，而是说这里检验有力量。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两种解释都预测明星上调有更大的公告日反应，所以只做事件窗口不够。真正能分开它们的是反应之后是继续还是反转，以及明星的预测是不是更准。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观测单位是一个分析师对一只股票的一次评级调整，不是一篇研报，也不是首次覆盖。首次覆盖没有上一次评级，iFinD 标成未知，单独存了 42,276 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明星用新财富当年在任榜单。资历从首篇报告算到报告日，数据源只到 2009 年 6 月。券商层级按评级记录累计份额切 50% 和 90%。改名合并并成稳定身份，但页面显示当年名称。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公告日窗口三个，异常成交量是事件日成交量减前 120 到前 11 天均值。漂移从 +2 开始，排除公告日反应。准确度用持有收益和自己的 EPS 预测误差。事件日是报告日后第一个交易日，3,857 个事件顺延。停牌是缺失，不是零。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明星上调三日多 0.37 个百分点，十一日多 0.99，异常成交量高 0.053 个对数点。经济幅度不大，但估计精确。明星下调三个窗口都不显著。同股同日先取均值，结果更大，说明不是同日重复事件堆出来的。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剔除窗口内出现涨跌停的事件：三日 0.37 降到 0.21，不显著；五日 0.54 降到 0.20，不显著；十一日 0.99 还剩 0.65，仍显著。短窗口显著性不能说是稳健的。这是边界，不是藏起来的失败。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漂移从 +2 开始算，不是公告日反应本身。明星下调前 60 个交易日继续跑输 1.64 个百分点，统计显著；到 120 日缩小到 0.76，不显著；到 250 日变成 +1.53，也不显著。这个形态更像延迟反应之后的部分反转。明星上调没有差异化漂移。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持有收益只在短期站得住：上调 6 个月多 1.51，下调 3 个月多 1.78，12 个月都不显著。预测误差方向相反，四个格子明星都更大，FY1 下调差 0.94，p 小于 0.001。符号误差没有显著差异，所以不是更乐观，而是更分散。明星可能覆盖更难的公司，这个选择效应控制不了，只当描述性证据。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方向不对称在五日窗口和成交量上最清楚。层级看起来有故事，但滚动层级 23.1% 的事件换层后，头部上调还在，中部下调掉到 0.33，不显著。层级只能当描述，不能当因果渠道。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停牌整条剔除结论不变。按股票聚类，五个主结果没有一格显著性翻转，6 个月上调在 0.050 边界，不当强结果。ST 代理 4,915 个股票日，短窗口不变。替代 star 和独立复跑通过。唯一没通过的是涨跌停，短窗口溢价消失。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如果是纯信息 story，应该看到持续漂移和更准的预测，这两条都没有。如果是纯影响力 story，短期持有收益也不应该占优。所以最合适的读法是混合：明星标签放大注意力，短期可能有一点信息，但长期没有稳定能力溢价。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句话：明星上调有更大的公告日冲击，下调没有；明星下调后短期继续跑输然后部分反转，上调没有漂移；明星预测并不更准，绝对误差四个格子都更大，持有收益优势只在短期。合起来，声誉可以协调注意力，但没有改善信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答辩备份，不主动讲。被问到数据来源、变量定义、多重检验时翻到这一页。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FIN4080 · GROUP PROJECT · 27 OCTOBER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56" b="1" i="0">
                <a:solidFill>
                  <a:srgbClr val="1F2A44"/>
                </a:solidFill>
                <a:latin typeface="Times New Roman"/>
              </a:rPr>
              <a:t>When a star analyst speaks,
information or authority?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84708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OPENING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90" b="1" i="0">
                <a:solidFill>
                  <a:srgbClr val="1F2A44"/>
                </a:solidFill>
                <a:latin typeface="Times New Roman"/>
              </a:rPr>
              <a:t>20,980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87" b="0" i="0">
                <a:solidFill>
                  <a:srgbClr val="6B7280"/>
                </a:solidFill>
                <a:latin typeface="Times New Roman"/>
              </a:rPr>
              <a:t>rating revisions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231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90" b="1" i="0">
                <a:solidFill>
                  <a:srgbClr val="1F2A44"/>
                </a:solidFill>
                <a:latin typeface="Times New Roman"/>
              </a:rPr>
              <a:t>2,683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4564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87" b="0" i="0">
                <a:solidFill>
                  <a:srgbClr val="6B7280"/>
                </a:solidFill>
                <a:latin typeface="Times New Roman"/>
              </a:rPr>
              <a:t>A-share stocks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4231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1F2A44"/>
                </a:solidFill>
                <a:latin typeface="Times New Roman"/>
              </a:rPr>
              <a:t>2018-2024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4564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87" b="0" i="0">
                <a:solidFill>
                  <a:srgbClr val="6B7280"/>
                </a:solidFill>
                <a:latin typeface="Times New Roman"/>
              </a:rPr>
              <a:t>sample period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069080"/>
            <a:ext cx="10908792" cy="0"/>
          </a:xfrm>
          <a:prstGeom prst="line">
            <a:avLst/>
          </a:prstGeom>
          <a:ln w="9525">
            <a:solidFill>
              <a:srgbClr val="D8D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3434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30" b="1" i="0">
                <a:solidFill>
                  <a:srgbClr val="B23A2B"/>
                </a:solidFill>
                <a:latin typeface="Times New Roman"/>
              </a:rPr>
              <a:t>13.2% carry a New Fortune star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0" i="0">
                <a:solidFill>
                  <a:srgbClr val="6B7280"/>
                </a:solidFill>
                <a:latin typeface="Times New Roman"/>
              </a:rPr>
              <a:t>Two channels. Four tests.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WHY CHINA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A retail-heavy market with limits on arbitrage
is a natural laboratory for authority effects.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WHY CHINA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29000" cy="315468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342900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RETAIL TURNOVER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3108960" cy="269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92" b="0" i="0">
                <a:solidFill>
                  <a:srgbClr val="1F2A44"/>
                </a:solidFill>
                <a:latin typeface="Times New Roman"/>
              </a:rPr>
              <a:t>Attention and status can move prices.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429000" cy="315468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342900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T+1 AND PRICE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108960" cy="269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92" b="0" i="0">
                <a:solidFill>
                  <a:srgbClr val="1F2A44"/>
                </a:solidFill>
                <a:latin typeface="Times New Roman"/>
              </a:rPr>
              <a:t>Arbitrage is costly; daily reactions are truncated.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828800"/>
            <a:ext cx="3429000" cy="315468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828800"/>
            <a:ext cx="342900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NEW FORTUNE 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194560"/>
            <a:ext cx="3108960" cy="269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92" b="0" i="0">
                <a:solidFill>
                  <a:srgbClr val="1F2A44"/>
                </a:solidFill>
                <a:latin typeface="Times New Roman"/>
              </a:rPr>
              <a:t>An annual, public star label. The 2018 vote was suspended.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2" b="0" i="1">
                <a:solidFill>
                  <a:srgbClr val="6B7280"/>
                </a:solidFill>
                <a:latin typeface="Times New Roman"/>
              </a:rPr>
              <a:t>The setting gives the test power. It does not make the effect automatic.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MECHANISM AND HYPOTHESES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Two channels, same announcement reaction,
different long-run paths.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80">
                <a:solidFill>
                  <a:srgbClr val="1F2A44"/>
                </a:solidFill>
                <a:latin typeface="Times New Roman"/>
              </a:rPr>
              <a:t>INFORMATION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075688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487168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24328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1" y="2642616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Better information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054096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6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1" y="3209544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Larger reaction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621024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58184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1" y="3776472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Continued 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4187952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325112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1" y="4343400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Better forecasts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178308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80">
                <a:solidFill>
                  <a:srgbClr val="B23A2B"/>
                </a:solidFill>
                <a:latin typeface="Times New Roman"/>
              </a:rPr>
              <a:t>INFLUENCE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057400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7872" y="2075688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Star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2487168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2624328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7872" y="2642616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Attention and authority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054096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3191256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7872" y="3209544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Larger reaction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3621024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0" y="3758184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3776472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No accuracy edge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4187952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0" y="4325112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4343400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Partial reversal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1828800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H1.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Star revisions produce larger announcement CAR and volume.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487168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H2.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Information: drift continues. Influence: drift reverses.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145535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H3.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Information: better forecasts. Influence: similar or worse.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803903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H4.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The premium differs by direction and broker tier.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09160"/>
            <a:ext cx="5166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25" b="1" i="0">
                <a:solidFill>
                  <a:srgbClr val="B23A2B"/>
                </a:solidFill>
                <a:latin typeface="Times New Roman"/>
              </a:rPr>
              <a:t>H1 cannot separate the channels.
H2 and H3 do the work.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893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Milgram (1963); Bonner, Hugon and Walther (2007); Loh and Stulz (2011); Fang and Yasuda (2009, 2014).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DATA AND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From 520,567 records to 20,980 usable revisions.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20,980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2,683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stocks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2,171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analysts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13.2%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star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6974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20" b="1" i="0">
                <a:solidFill>
                  <a:srgbClr val="B23A2B"/>
                </a:solidFill>
                <a:latin typeface="Times New Roman"/>
              </a:rPr>
              <a:t>12,131 upgrades / 8,849 downgrades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Raw rating 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520,567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401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60" b="0" i="0">
                <a:solidFill>
                  <a:srgbClr val="6B7280"/>
                </a:solidFill>
                <a:latin typeface="Times New Roman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07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Remove duplicates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517,871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401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60" b="0" i="0">
                <a:solidFill>
                  <a:srgbClr val="6B7280"/>
                </a:solidFill>
                <a:latin typeface="Times New Roman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Keep upgrades / downgrades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21,471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401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60" b="0" i="0">
                <a:solidFill>
                  <a:srgbClr val="6B7280"/>
                </a:solidFill>
                <a:latin typeface="Times New Roman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Drop IPO &lt; 6m and 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20,980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00600"/>
            <a:ext cx="10881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20" b="1" i="0">
                <a:solidFill>
                  <a:srgbClr val="1F2A44"/>
                </a:solidFill>
                <a:latin typeface="Times New Roman"/>
              </a:rPr>
              <a:t>Unit: one analyst-stock rating revision.
Not a report. Not an initiation.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532120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B23A2B"/>
                </a:solidFill>
                <a:latin typeface="Times New Roman"/>
              </a:rPr>
              <a:t>42,276 initiations are stored separately and excluded.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iFinD THS_iwencai, pulled 5 October 2026. Market data: Dretwd and H00300.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MEASURING AUTHORITY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Three proxies: star status, seniority, and broker tier.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2900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3429000" cy="502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3108960" cy="288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22" b="0" i="0">
                <a:solidFill>
                  <a:srgbClr val="1F2A44"/>
                </a:solidFill>
                <a:latin typeface="Times New Roman"/>
              </a:rPr>
              <a:t>New Fortune list in force. 2,774 events, 13.2%. 2018 inherits 2017.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42900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3429000" cy="502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SENIORITY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108960" cy="288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22" b="0" i="0">
                <a:solidFill>
                  <a:srgbClr val="1F2A44"/>
                </a:solidFill>
                <a:latin typeface="Times New Roman"/>
              </a:rPr>
              <a:t>Years since first report. Source floor June 2009. Event-day variant differs by at most 0.027 years.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828800"/>
            <a:ext cx="342900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828800"/>
            <a:ext cx="3429000" cy="502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BROKER 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194560"/>
            <a:ext cx="3108960" cy="288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22" b="0" i="0">
                <a:solidFill>
                  <a:srgbClr val="1F2A44"/>
                </a:solidFill>
                <a:latin typeface="Times New Roman"/>
              </a:rPr>
              <a:t>Cumulative rating-record share: 50% and 90%. 13 / 26 / 85 houses. Stable identity, in-year display.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A 2018 国泰君安 report is never relabeled 国泰海通.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EMPIRICAL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One event window, one drift path, two accuracy metrics.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70">
                <a:solidFill>
                  <a:srgbClr val="B23A2B"/>
                </a:solidFill>
                <a:latin typeface="Times New Roman"/>
              </a:rPr>
              <a:t>ANNOUNCEMENT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429000" cy="2103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CAR[-1,+1], [-1,+5], [-5,+5]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AV = log volume minus [-120,-11] mean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80% valid observations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783080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70">
                <a:solidFill>
                  <a:srgbClr val="B23A2B"/>
                </a:solidFill>
                <a:latin typeface="Times New Roman"/>
              </a:rPr>
              <a:t>DRIFT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48840"/>
            <a:ext cx="3429000" cy="2103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CAR +2 to +60, +120, +250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Holding returns 63, 126, 252 days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Direction-adjusted, market-adjusted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59" y="1783080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70">
                <a:solidFill>
                  <a:srgbClr val="B23A2B"/>
                </a:solidFill>
                <a:latin typeface="Times New Roman"/>
              </a:rPr>
              <a:t>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48840"/>
            <a:ext cx="3429000" cy="2103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|forecast EPS - actual EPS| / price x 100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FY0 and FY1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Winsorised at 1/99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09160"/>
            <a:ext cx="10908792" cy="96012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28032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30" b="0" i="0">
                <a:solidFill>
                  <a:srgbClr val="1F2A44"/>
                </a:solidFill>
                <a:latin typeface="Times New Roman"/>
              </a:rPr>
              <a:t>CAR_i = sum_t (r_i,t - r_m,t)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82803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30" b="0" i="0">
                <a:solidFill>
                  <a:srgbClr val="1F2A44"/>
                </a:solidFill>
                <a:latin typeface="Times New Roman"/>
              </a:rPr>
              <a:t>AV_i = ln V_i,0 - mean ln V_i,t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6B7280"/>
                </a:solidFill>
                <a:latin typeface="Times New Roman"/>
              </a:rPr>
              <a:t>Event day = first trading day at or after the report date. Suspended days are missing, never zero.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1 · DO STAR REVISIONS MOVE THE MARKET?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 upgrades earn a larger premium.
Star downgrades do not.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7</a:t>
            </a:r>
          </a:p>
        </p:txBody>
      </p:sp>
      <p:pic>
        <p:nvPicPr>
          <p:cNvPr id="7" name="Picture 6" descr="Bar chart of star minus non-star CAR for upgrades and downgrad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44652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223760" y="1783080"/>
            <a:ext cx="4297680" cy="123444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0" y="1783080"/>
            <a:ext cx="429768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911095"/>
            <a:ext cx="3977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 MINUS NON-STAR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148840"/>
            <a:ext cx="39776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B23A2B"/>
                </a:solidFill>
                <a:latin typeface="Times New Roman"/>
              </a:rPr>
              <a:t>+0.37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752344"/>
            <a:ext cx="3977640" cy="173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82" b="0" i="0">
                <a:solidFill>
                  <a:srgbClr val="1F2A44"/>
                </a:solidFill>
                <a:latin typeface="Times New Roman"/>
              </a:rPr>
              <a:t>CAR[-1,+1] (t = 2.17)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3063239"/>
            <a:ext cx="4297680" cy="123444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3063239"/>
            <a:ext cx="429768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191256"/>
            <a:ext cx="3977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 MINUS NON-STAR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428999"/>
            <a:ext cx="39776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B23A2B"/>
                </a:solidFill>
                <a:latin typeface="Times New Roman"/>
              </a:rPr>
              <a:t>+0.99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4032503"/>
            <a:ext cx="3977640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82" b="0" i="0">
                <a:solidFill>
                  <a:srgbClr val="1F2A44"/>
                </a:solidFill>
                <a:latin typeface="Times New Roman"/>
              </a:rPr>
              <a:t>CAR[-5,+5] (t = 3.55)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0" y="4343400"/>
            <a:ext cx="4297680" cy="123444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3760" y="4343400"/>
            <a:ext cx="429768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4471416"/>
            <a:ext cx="3977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 MINUS NON-STAR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4709160"/>
            <a:ext cx="39776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B23A2B"/>
                </a:solidFill>
                <a:latin typeface="Times New Roman"/>
              </a:rPr>
              <a:t>+0.053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5312664"/>
            <a:ext cx="3977640" cy="173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82" b="0" i="0">
                <a:solidFill>
                  <a:srgbClr val="1F2A44"/>
                </a:solidFill>
                <a:latin typeface="Times New Roman"/>
              </a:rPr>
              <a:t>AV, log points (t = 2.85)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742432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15" b="0" i="0">
                <a:solidFill>
                  <a:srgbClr val="6B7280"/>
                </a:solidFill>
                <a:latin typeface="Times New Roman"/>
              </a:rPr>
              <a:t>Downgrades: +0.06 (t=0.35), -0.19 (t=-0.85), -0.21 (t=-0.74).
Same-stock-same-day collapse: +0.43 / +0.61 / +1.06; AV +0.059.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Source: iFinD; authors' calculations. Market-adjusted total returns. Bars are star minus non-star; whiskers are 95% CI.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1 · WHERE DOES THE PREMIUM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short-window premium is concentrated in price-limit events.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745236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651760"/>
                <a:gridCol w="2880360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755" b="1">
                          <a:solidFill>
                            <a:srgbClr val="FFFFFF"/>
                          </a:solidFill>
                          <a:latin typeface="Times New Roman"/>
                        </a:rPr>
                        <a:t>Window</a:t>
                      </a:r>
                    </a:p>
                  </a:txBody>
                  <a:tcPr marL="109728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55" b="1">
                          <a:solidFill>
                            <a:srgbClr val="FFFFFF"/>
                          </a:solidFill>
                          <a:latin typeface="Times New Roman"/>
                        </a:rPr>
                        <a:t>Full sample</a:t>
                      </a:r>
                    </a:p>
                  </a:txBody>
                  <a:tcPr marL="109728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55" b="1">
                          <a:solidFill>
                            <a:srgbClr val="FFFFFF"/>
                          </a:solidFill>
                          <a:latin typeface="Times New Roman"/>
                        </a:rPr>
                        <a:t>Excluding limit-hit events</a:t>
                      </a:r>
                    </a:p>
                  </a:txBody>
                  <a:tcPr marL="109728" marR="73152" marT="36576" marB="36576" anchor="ctr">
                    <a:solidFill>
                      <a:srgbClr val="1F2A4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[-1,+1]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+0.37  (p = 0.030)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+0.21  (p = 0.134)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[-1,+5]</a:t>
                      </a:r>
                    </a:p>
                  </a:txBody>
                  <a:tcPr marL="109728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+0.54  (p = 0.021)</a:t>
                      </a:r>
                    </a:p>
                  </a:txBody>
                  <a:tcPr marL="109728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+0.20  (p = 0.310)</a:t>
                      </a:r>
                    </a:p>
                  </a:txBody>
                  <a:tcPr marL="109728" marR="73152" marT="36576" marB="36576" anchor="ctr">
                    <a:solidFill>
                      <a:srgbClr val="F4F1E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[-5,+5]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+0.99  (p = 0.0004)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+0.65  (p = 0.008)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0" y="1874519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55" b="0" i="0">
                <a:solidFill>
                  <a:srgbClr val="1F2A44"/>
                </a:solidFill>
                <a:latin typeface="Times New Roman"/>
              </a:rPr>
              <a:t>Removes 8.7% to 16.0% of upgrade events.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2" b="0" i="0">
                <a:solidFill>
                  <a:srgbClr val="6B7280"/>
                </a:solidFill>
                <a:latin typeface="Times New Roman"/>
              </a:rPr>
              <a:t>The 3-day and 5-day premiums lose significance. The 11-day premium remains.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20" b="1" i="0">
                <a:solidFill>
                  <a:srgbClr val="B23A2B"/>
                </a:solidFill>
                <a:latin typeface="Times New Roman"/>
              </a:rPr>
              <a:t>Only the 11-day window survives. We do not call the 3-day result robust to price limits.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2 · DOES THE REACTION PERSIST?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 downgrades keep falling for three months,
then partially reverse.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9</a:t>
            </a:r>
          </a:p>
        </p:txBody>
      </p:sp>
      <p:pic>
        <p:nvPicPr>
          <p:cNvPr id="7" name="Picture 6" descr="Bar chart of post-announcement drift for upgrades and downgrad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989320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0" y="1783080"/>
            <a:ext cx="4663440" cy="123444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783080"/>
            <a:ext cx="466344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911095"/>
            <a:ext cx="4343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 MINUS NON-STAR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148840"/>
            <a:ext cx="4343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-1.64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752344"/>
            <a:ext cx="4343400" cy="173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F2A44"/>
                </a:solidFill>
                <a:latin typeface="Times New Roman"/>
              </a:rPr>
              <a:t>CAR +2 to +60  (p = 0.002)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3081528"/>
            <a:ext cx="4663440" cy="123444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3081528"/>
            <a:ext cx="466344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3209544"/>
            <a:ext cx="4343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 MINUS NON-STAR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447288"/>
            <a:ext cx="4343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-0.76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050791"/>
            <a:ext cx="4343400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F2A44"/>
                </a:solidFill>
                <a:latin typeface="Times New Roman"/>
              </a:rPr>
              <a:t>CAR +2 to +120  (p = 0.32)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4379976"/>
            <a:ext cx="4663440" cy="123444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4379976"/>
            <a:ext cx="4663440" cy="502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4507992"/>
            <a:ext cx="4343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 MINUS NON-STAR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745736"/>
            <a:ext cx="4343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1F2A44"/>
                </a:solidFill>
                <a:latin typeface="Times New Roman"/>
              </a:rPr>
              <a:t>+1.53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49240"/>
            <a:ext cx="4343400" cy="173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1F2A44"/>
                </a:solidFill>
                <a:latin typeface="Times New Roman"/>
              </a:rPr>
              <a:t>CAR +2 to +250  (p = 0.18)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7150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Upgrades: -0.07 / +0.98 / +0.76, all insignificant.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Source: iFinD; authors' calculations. Market-adjusted CAR from +2. Bars are star minus non-star; whiskers are 95% 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3 · ARE STARS MORE ACCURATE?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Stars are not better forecasters.
Their absolute errors are larger in every cell.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10</a:t>
            </a:r>
          </a:p>
        </p:txBody>
      </p:sp>
      <p:pic>
        <p:nvPicPr>
          <p:cNvPr id="7" name="Picture 6" descr="Bar chart of direction-adjusted holding returns for upgrades and downgrad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806440" cy="37673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78308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78308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911095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FY0 UPGRADE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13055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69748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178308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0" y="178308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911095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FY0 DOWNGRADE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13055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69748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324612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0" y="324612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337413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FY1 UPGRADE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593591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1605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24612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324612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337413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FY1 DOWNGRADE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593591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41605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&lt; 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75488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Holding returns: +1.51 at 6m for upgrades (p = 0.048); +1.78 at 3m for downgrades (p = 0.001). No 12m persistence.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Source: iFinD; authors' calculations. Forecast error is the absolute error as a percentage of the event-day price, winsorised at 1/99.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4 · IS AUTHORITY ONE PREMIUM OR MANY?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premium is one-sided.
Tier is not a stable channel.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80">
                <a:solidFill>
                  <a:srgbClr val="B23A2B"/>
                </a:solidFill>
                <a:latin typeface="Times New Roman"/>
              </a:rPr>
              <a:t>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Upgrade premium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574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B23A2B"/>
                </a:solidFill>
                <a:latin typeface="Times New Roman"/>
              </a:rPr>
              <a:t>+0.39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0312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Interaction -0.29 (p = 0.197)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54679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5-day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B23A2B"/>
                </a:solidFill>
                <a:latin typeface="Times New Roman"/>
              </a:rPr>
              <a:t>+0.58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154679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38727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Interaction -0.70 (p = 0.025)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Abnormal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160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B23A2B"/>
                </a:solidFill>
                <a:latin typeface="Times New Roman"/>
              </a:rPr>
              <a:t>+0.049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2062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9028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Interaction -0.057 (p = 0.041)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89320" y="1783080"/>
            <a:ext cx="0" cy="3566160"/>
          </a:xfrm>
          <a:prstGeom prst="line">
            <a:avLst/>
          </a:prstGeom>
          <a:ln w="9525">
            <a:solidFill>
              <a:srgbClr val="D8D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0" y="178308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80">
                <a:solidFill>
                  <a:srgbClr val="B23A2B"/>
                </a:solidFill>
                <a:latin typeface="Times New Roman"/>
              </a:rPr>
              <a:t>BROKER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031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Top-tier star upgrade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0574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1F2A44"/>
                </a:solidFill>
                <a:latin typeface="Times New Roman"/>
              </a:rPr>
              <a:t>+0.55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210312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87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Top vs mid -0.63 (p = 0.072)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54679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Mid-tier star downgrade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1F2A44"/>
                </a:solidFill>
                <a:latin typeface="Times New Roman"/>
              </a:rPr>
              <a:t>+0.62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1546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20624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Rolling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160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1F2A44"/>
                </a:solidFill>
                <a:latin typeface="Times New Roman"/>
              </a:rPr>
              <a:t>23.1%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420624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reclassified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59028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Top +0.49 (p=.046); mid +0.33 (p=.129)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8640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Regression estimates with controls; raw differences are in Finding 1.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79008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Tier is descriptive, not causal. Star and tier are highly collinear.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headline survives three checks.
Price limits are the boundary.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SUSPENSION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40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0.37 -&gt; 0.37; 0.99 -&gt; 0.99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8308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78308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920240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CLUSTERING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40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p = 0.035 / 0.028 / 0.0006; no 5% sign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78308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63840" y="178308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9" y="1920240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 PROXY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9" y="2240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4,915 stock-days flagged; short-window unchanged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47472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611879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ALTERNATIVE STAR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9319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same-year, month, lag1; 2018 in-force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47472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47472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611879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ROLLING TIER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9319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23.1% reclassified; tier significance unstable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47472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63840" y="3474720"/>
            <a:ext cx="45720" cy="1481328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19" y="3611879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REPLICATION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39319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max abs diff ~1e-13; event dates and N 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85" b="1" i="0">
                <a:solidFill>
                  <a:srgbClr val="B23A2B"/>
                </a:solidFill>
                <a:latin typeface="Times New Roman"/>
              </a:rPr>
              <a:t>Raw price-limit check: 0.37 -&gt; 0.21 (p = 0.134); 0.54 -&gt; 0.20 (p = 0.310); 0.99 -&gt; 0.65 (p = 0.008).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978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Bonferroni across 30 main specifications: five results survive at p &lt; 0.0017.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WHAT DOES THIS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market follows the label, not the forecast.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4924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3775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2" b="1" i="0" spc="60">
                <a:solidFill>
                  <a:srgbClr val="1F2A44"/>
                </a:solidFill>
                <a:latin typeface="Times New Roman"/>
              </a:rPr>
              <a:t>INFORMATION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13432"/>
            <a:ext cx="4937759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755" b="0" i="0">
                <a:solidFill>
                  <a:srgbClr val="1F2A44"/>
                </a:solidFill>
                <a:latin typeface="Times New Roman"/>
              </a:rPr>
              <a:t>Better access and skill -&gt; larger reaction -&gt; continued drift -&gt; better forecasts.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>
                <a:solidFill>
                  <a:srgbClr val="6B7280"/>
                </a:solidFill>
                <a:latin typeface="Times New Roman"/>
              </a:rPr>
              <a:t>Supported by short-run holding returns. Contradicted by larger forecast errors and no 12-month persistence.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34924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493775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2" b="1" i="0" spc="60">
                <a:solidFill>
                  <a:srgbClr val="B23A2B"/>
                </a:solidFill>
                <a:latin typeface="Times New Roman"/>
              </a:rPr>
              <a:t>INFLUENCE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13432"/>
            <a:ext cx="4937759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755" b="0" i="0">
                <a:solidFill>
                  <a:srgbClr val="1F2A44"/>
                </a:solidFill>
                <a:latin typeface="Times New Roman"/>
              </a:rPr>
              <a:t>Status -&gt; attention -&gt; trading -&gt; price impact -&gt; no accuracy edge -&gt; partial reversal.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>
                <a:solidFill>
                  <a:srgbClr val="6B7280"/>
                </a:solidFill>
                <a:latin typeface="Times New Roman"/>
              </a:rPr>
              <a:t>Supported by the announcement premium and downgrade drift. Not pure influence, because short-run returns exist.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65" b="1" i="0">
                <a:solidFill>
                  <a:srgbClr val="B23A2B"/>
                </a:solidFill>
                <a:latin typeface="Times New Roman"/>
              </a:rPr>
              <a:t>Verdict: influence with a short-lived information component.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Stars move markets without better forecasts.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590" b="1" i="0">
                <a:solidFill>
                  <a:srgbClr val="B23A2B"/>
                </a:solidFill>
                <a:latin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0136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60" b="0" i="0">
                <a:solidFill>
                  <a:srgbClr val="1F2A44"/>
                </a:solidFill>
                <a:latin typeface="Times New Roman"/>
              </a:rPr>
              <a:t>Announcement: +0.37 pp and +0.053 log volume on star upgrades; no downgrade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590" b="1" i="0">
                <a:solidFill>
                  <a:srgbClr val="B23A2B"/>
                </a:solidFill>
                <a:latin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9864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60" b="0" i="0">
                <a:solidFill>
                  <a:srgbClr val="1F2A44"/>
                </a:solidFill>
                <a:latin typeface="Times New Roman"/>
              </a:rPr>
              <a:t>Persistence: -1.64 pp drift after star downgrades, then reversal; no upgrade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590" b="1" i="0">
                <a:solidFill>
                  <a:srgbClr val="B23A2B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95927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60" b="0" i="0">
                <a:solidFill>
                  <a:srgbClr val="1F2A44"/>
                </a:solidFill>
                <a:latin typeface="Times New Roman"/>
              </a:rPr>
              <a:t>Accuracy: larger absolute forecast errors in all four cells; holding edge only short-lived.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25" b="1" i="0">
                <a:solidFill>
                  <a:srgbClr val="1F2A44"/>
                </a:solidFill>
                <a:latin typeface="Times New Roman"/>
              </a:rPr>
              <a:t>Reputation can coordinate attention without improving information.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Definitions, data, and the tests behind the headline.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70">
                <a:solidFill>
                  <a:srgbClr val="B23A2B"/>
                </a:solidFill>
                <a:latin typeface="Times New Roman"/>
              </a:rPr>
              <a:t>DEFINITIONS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star: New Fortune list in force, 2018 inherits 2017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seniority: years since first report, 2009 floor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tier: cumulative rating-record share, 50% / 90%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CAR: sum of market-adjusted returns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AV: log volume minus [-120,-11]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78308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70">
                <a:solidFill>
                  <a:srgbClr val="B23A2B"/>
                </a:solidFill>
                <a:latin typeface="Times New Roman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14884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iFinD THS_iwencai, 2018-2024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Dretwd total returns; H00300 market index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20,980 events; 2,683 stocks; 2,171 analysts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20,248 events matched to forecasts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FY0 20,067; FY1 19,626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78308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70">
                <a:solidFill>
                  <a:srgbClr val="B23A2B"/>
                </a:solidFill>
                <a:latin typeface="Times New Roman"/>
              </a:rPr>
              <a:t>EXTRA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14884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stock-clustered p-values for all main tests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Bonferroni: five survivors at p &lt; 0.0017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suspension, ST, price-limit, rolling-tier checks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independent replication: max diff ~1e-13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full tables in the written report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5623560"/>
            <a:ext cx="10908792" cy="0"/>
          </a:xfrm>
          <a:prstGeom prst="line">
            <a:avLst/>
          </a:prstGeom>
          <a:ln w="9525">
            <a:solidFill>
              <a:srgbClr val="D8D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Q&amp;A map: data source, event definition, endogeneity, alternatives, multiple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Investors Follow Authority?</dc:title>
  <dc:subject>FIN4080 Project 10, star analyst recommendations in China</dc:subject>
  <dc:creator>FIN4080 Group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