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不自我介绍。开场直接说：过去七年，中国分析师对 A 股做了 20,980 次评级调整，其中 13.2% 来自新财富明星分析师。我们要问的是，市场在反应信息，还是在反应标签。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美国文献给机制，中国给一个机制更容易被看见的市场。散户换手高，T+1 和涨跌停让套利更贵，新财富提供每年更新、公开可查的明星标签。我们不是说中国特殊，而是说这里检验有力量。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两种解释都预测明星上调有更大的公告日反应，所以只做事件窗口不够。真正能分开它们的是反应之后是继续还是反转，以及明星的预测是不是更准。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观测单位是一个分析师对一只股票的一次评级调整，不是一篇研报，也不是首次覆盖。首次覆盖没有上一次评级，iFinD 标成未知，单独存了 42,276 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明星用新财富当年在任榜单。资历从首篇报告算到报告日，数据源只到 2009 年 6 月。券商层级按评级记录累计份额切 50% 和 90%。改名合并并成稳定身份，但页面显示当年名称。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公告日窗口三个，异常成交量是事件日成交量减前 120 到前 11 天均值。漂移从 +2 开始，排除公告日反应。准确度用持有收益和自己的 EPS 预测误差。事件日是报告日后第一个交易日，3,857 个事件顺延。停牌是缺失，不是零。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 有两半：收益和成交量；每一半又要分上调和下调。明星上调的 CAR 是 +0.37，t=2.17；异常成交量是 +0.053 个对数点，t=2.85，约等于成交量高 5%。明星下调的 CAR 是 +0.06，t=0.35；成交量是 -0.011，t=-0.53，两个都不显著。所以 Q1 的答案是四个格子里只有上调的两个格子动了。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这一页只检验 CAR 的边界，不检验成交量。剔除窗口内出现涨跌停的事件：三日 0.37 降到 0.21，不显著；五日 0.54 降到 0.20，不显著；十一日 0.99 还剩 0.65，仍显著。短窗口 CAR 显著性不能说是稳健的。成交量没有做同样的剔除，页面上要讲清楚。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Q2 要同时回答上调和下调。下调在 +2 到 +60 继续跑输 1.64，p=0.002；到 +120 缩小到 0.76，不显著；到 +250 变成 +1.53，也不显著。上调三个窗口都不显著。这个形态更像延迟反应之后的部分反转，不能说是过度反应，因为下调的公告日反应本身并不比非明星大。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Q3 有两个准确度指标，必须同时回答。持有收益短期支持明星：上调 6 个月多 1.51，p=0.048；下调 3 个月多 1.78，p=0.001；但 12 个月都不显著。预测误差方向相反，四个格子明星都更大，FY1 下调差 0.94，p 小于 0.001。所以答案是短期有一点持有收益优势，但没有稳定的预测准确度优势。符号误差没有显著差异，不是更乐观，而是更分散。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Q4 有两半：方向和券商层级。方向是不对称的，五日窗口上调 +0.58，和下调的交互 -0.70，成交量交互 -0.057，都显著。层级看起来有故事，但滚动层级 23.1% 的事件换层后，头部上调还在，中部下调掉到 0.33，不显著。小层级只有 2 条明星上调、0 条下调，无法估计。所以层级只能当描述，不能当因果渠道。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停牌整条剔除结论不变。按股票聚类，五个主结果没有一格显著性翻转，6 个月上调在 0.050 边界，不当强结果。ST 代理 4,915 个股票日，短窗口不变。替代 star 和独立复跑通过。唯一没通过的是涨跌停，短窗口溢价消失。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如果是纯信息 story，应该看到持续漂移和更准的预测，这两条都没有。如果是纯影响力 story，短期持有收益也不应该占优。所以最合适的读法是混合：明星标签放大注意力，短期可能有一点信息，但长期没有稳定能力溢价。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句话：明星上调有更大的公告日冲击，下调没有；明星下调后短期继续跑输然后部分反转，上调没有漂移；明星预测并不更准，绝对误差四个格子都更大，持有收益优势只在短期。合起来，声誉可以协调注意力，但没有改善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答辩备份，不主动讲。被问到数据来源、变量定义、多重检验时翻到这一页。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1" i="0" spc="100">
                <a:solidFill>
                  <a:srgbClr val="6B7280"/>
                </a:solidFill>
                <a:latin typeface="Times New Roman"/>
              </a:rPr>
              <a:t>FIN4080 · GROUP PROJECT · 27 OCTOBER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456" b="1" i="0">
                <a:solidFill>
                  <a:srgbClr val="1F2A44"/>
                </a:solidFill>
                <a:latin typeface="Times New Roman"/>
              </a:rPr>
              <a:t>When a star analyst speaks,
information or authority?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847088"/>
            <a:ext cx="10908792" cy="0"/>
          </a:xfrm>
          <a:prstGeom prst="line">
            <a:avLst/>
          </a:prstGeom>
          <a:ln w="15875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47" b="0" i="0" spc="60">
                <a:solidFill>
                  <a:srgbClr val="6B7280"/>
                </a:solidFill>
                <a:latin typeface="Times New Roman"/>
              </a:rPr>
              <a:t>OPENING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82" b="0" i="0">
                <a:solidFill>
                  <a:srgbClr val="6B7280"/>
                </a:solidFill>
                <a:latin typeface="Times New Roman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90" b="1" i="0">
                <a:solidFill>
                  <a:srgbClr val="1F2A44"/>
                </a:solidFill>
                <a:latin typeface="Times New Roman"/>
              </a:rPr>
              <a:t>20,980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564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87" b="0" i="0">
                <a:solidFill>
                  <a:srgbClr val="6B7280"/>
                </a:solidFill>
                <a:latin typeface="Times New Roman"/>
              </a:rPr>
              <a:t>rating revisions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42316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90" b="1" i="0">
                <a:solidFill>
                  <a:srgbClr val="1F2A44"/>
                </a:solidFill>
                <a:latin typeface="Times New Roman"/>
              </a:rPr>
              <a:t>2,683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4564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87" b="0" i="0">
                <a:solidFill>
                  <a:srgbClr val="6B7280"/>
                </a:solidFill>
                <a:latin typeface="Times New Roman"/>
              </a:rPr>
              <a:t>A-share stocks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42316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 i="0">
                <a:solidFill>
                  <a:srgbClr val="1F2A44"/>
                </a:solidFill>
                <a:latin typeface="Times New Roman"/>
              </a:rPr>
              <a:t>2018-2024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4564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87" b="0" i="0">
                <a:solidFill>
                  <a:srgbClr val="6B7280"/>
                </a:solidFill>
                <a:latin typeface="Times New Roman"/>
              </a:rPr>
              <a:t>sample period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4069080"/>
            <a:ext cx="10908792" cy="0"/>
          </a:xfrm>
          <a:prstGeom prst="line">
            <a:avLst/>
          </a:prstGeom>
          <a:ln w="9525">
            <a:solidFill>
              <a:srgbClr val="D8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43434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30" b="1" i="0">
                <a:solidFill>
                  <a:srgbClr val="B23A2B"/>
                </a:solidFill>
                <a:latin typeface="Times New Roman"/>
              </a:rPr>
              <a:t>13.2% carry a New Fortune star label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749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90" b="0" i="0">
                <a:solidFill>
                  <a:srgbClr val="6B7280"/>
                </a:solidFill>
                <a:latin typeface="Times New Roman"/>
              </a:rPr>
              <a:t>Two channels. Four tests.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1" i="0" spc="100">
                <a:solidFill>
                  <a:srgbClr val="6B7280"/>
                </a:solidFill>
                <a:latin typeface="Times New Roman"/>
              </a:rPr>
              <a:t>WHY CHINA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24" b="1" i="0">
                <a:solidFill>
                  <a:srgbClr val="1F2A44"/>
                </a:solidFill>
                <a:latin typeface="Times New Roman"/>
              </a:rPr>
              <a:t>A retail-heavy market with limits on arbitrage
is a natural laboratory for authority effects.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81328"/>
            <a:ext cx="10908792" cy="0"/>
          </a:xfrm>
          <a:prstGeom prst="line">
            <a:avLst/>
          </a:prstGeom>
          <a:ln w="15875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47" b="0" i="0" spc="60">
                <a:solidFill>
                  <a:srgbClr val="6B7280"/>
                </a:solidFill>
                <a:latin typeface="Times New Roman"/>
              </a:rPr>
              <a:t>WHY CHINA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82" b="0" i="0">
                <a:solidFill>
                  <a:srgbClr val="6B7280"/>
                </a:solidFill>
                <a:latin typeface="Times New Roman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429000" cy="3154680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3429000" cy="50292"/>
          </a:xfrm>
          <a:prstGeom prst="rect">
            <a:avLst/>
          </a:prstGeom>
          <a:solidFill>
            <a:srgbClr val="B2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5681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82" b="1" i="0" spc="60">
                <a:solidFill>
                  <a:srgbClr val="6B7280"/>
                </a:solidFill>
                <a:latin typeface="Times New Roman"/>
              </a:rPr>
              <a:t>RETAIL TURNOVER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3108960" cy="2697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92" b="0" i="0">
                <a:solidFill>
                  <a:srgbClr val="1F2A44"/>
                </a:solidFill>
                <a:latin typeface="Times New Roman"/>
              </a:rPr>
              <a:t>Attention and status can move prices.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429000" cy="3154680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3429000" cy="50292"/>
          </a:xfrm>
          <a:prstGeom prst="rect">
            <a:avLst/>
          </a:prstGeom>
          <a:solidFill>
            <a:srgbClr val="B2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5681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82" b="1" i="0" spc="60">
                <a:solidFill>
                  <a:srgbClr val="6B7280"/>
                </a:solidFill>
                <a:latin typeface="Times New Roman"/>
              </a:rPr>
              <a:t>T+1 AND PRICE LIMITS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3108960" cy="2697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92" b="0" i="0">
                <a:solidFill>
                  <a:srgbClr val="1F2A44"/>
                </a:solidFill>
                <a:latin typeface="Times New Roman"/>
              </a:rPr>
              <a:t>Arbitrage is costly; daily reactions are truncated.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59" y="1828800"/>
            <a:ext cx="3429000" cy="3154680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59" y="1828800"/>
            <a:ext cx="3429000" cy="50292"/>
          </a:xfrm>
          <a:prstGeom prst="rect">
            <a:avLst/>
          </a:prstGeom>
          <a:solidFill>
            <a:srgbClr val="B2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9" y="195681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82" b="1" i="0" spc="60">
                <a:solidFill>
                  <a:srgbClr val="6B7280"/>
                </a:solidFill>
                <a:latin typeface="Times New Roman"/>
              </a:rPr>
              <a:t>NEW FORTUNE RANKING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2194560"/>
            <a:ext cx="3108960" cy="2697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92" b="0" i="0">
                <a:solidFill>
                  <a:srgbClr val="1F2A44"/>
                </a:solidFill>
                <a:latin typeface="Times New Roman"/>
              </a:rPr>
              <a:t>An annual, public star label. The 2018 vote was suspended.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2" b="0" i="1">
                <a:solidFill>
                  <a:srgbClr val="6B7280"/>
                </a:solidFill>
                <a:latin typeface="Times New Roman"/>
              </a:rPr>
              <a:t>The setting gives the test power. It does not make the effect automatic.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1" i="0" spc="100">
                <a:solidFill>
                  <a:srgbClr val="6B7280"/>
                </a:solidFill>
                <a:latin typeface="Times New Roman"/>
              </a:rPr>
              <a:t>ONE QUESTION, FOUR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24" b="1" i="0">
                <a:solidFill>
                  <a:srgbClr val="1F2A44"/>
                </a:solidFill>
                <a:latin typeface="Times New Roman"/>
              </a:rPr>
              <a:t>Two channels, same announcement reaction,
different long-run paths.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81328"/>
            <a:ext cx="10908792" cy="0"/>
          </a:xfrm>
          <a:prstGeom prst="line">
            <a:avLst/>
          </a:prstGeom>
          <a:ln w="15875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47" b="0" i="0" spc="60">
                <a:solidFill>
                  <a:srgbClr val="6B7280"/>
                </a:solidFill>
                <a:latin typeface="Times New Roman"/>
              </a:rPr>
              <a:t>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82" b="0" i="0">
                <a:solidFill>
                  <a:srgbClr val="6B7280"/>
                </a:solidFill>
                <a:latin typeface="Times New Roman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82" b="1" i="0" spc="80">
                <a:solidFill>
                  <a:srgbClr val="1F2A44"/>
                </a:solidFill>
                <a:latin typeface="Times New Roman"/>
              </a:rPr>
              <a:t>INFORMATION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2651760" cy="420624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1" y="2075688"/>
            <a:ext cx="250545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17" b="1" i="0">
                <a:solidFill>
                  <a:srgbClr val="1F2A44"/>
                </a:solidFill>
                <a:latin typeface="Times New Roman"/>
              </a:rPr>
              <a:t>Star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2487168"/>
            <a:ext cx="32004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85" b="0" i="0">
                <a:solidFill>
                  <a:srgbClr val="6B7280"/>
                </a:solidFill>
                <a:latin typeface="Times New Roman"/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24328"/>
            <a:ext cx="2651760" cy="420624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1" y="2642616"/>
            <a:ext cx="250545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Better 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3054096"/>
            <a:ext cx="32004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85" b="0" i="0">
                <a:solidFill>
                  <a:srgbClr val="6B7280"/>
                </a:solidFill>
                <a:latin typeface="Times New Roman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91256"/>
            <a:ext cx="2651760" cy="420624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1" y="3209544"/>
            <a:ext cx="250545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Larger reaction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3621024"/>
            <a:ext cx="32004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85" b="0" i="0">
                <a:solidFill>
                  <a:srgbClr val="6B7280"/>
                </a:solidFill>
                <a:latin typeface="Times New Roman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58184"/>
            <a:ext cx="2651760" cy="420624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1" y="3776472"/>
            <a:ext cx="250545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Continued drift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0512" y="4187952"/>
            <a:ext cx="32004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85" b="0" i="0">
                <a:solidFill>
                  <a:srgbClr val="6B7280"/>
                </a:solidFill>
                <a:latin typeface="Times New Roman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325112"/>
            <a:ext cx="2651760" cy="420624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1" y="4343400"/>
            <a:ext cx="250545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Better forecasts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1783080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82" b="1" i="0" spc="80">
                <a:solidFill>
                  <a:srgbClr val="B23A2B"/>
                </a:solidFill>
                <a:latin typeface="Times New Roman"/>
              </a:rPr>
              <a:t>INFLUENCE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2057400"/>
            <a:ext cx="2651760" cy="420624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7872" y="2075688"/>
            <a:ext cx="250545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17" b="1" i="0">
                <a:solidFill>
                  <a:srgbClr val="1F2A44"/>
                </a:solidFill>
                <a:latin typeface="Times New Roman"/>
              </a:rPr>
              <a:t>Star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2487168"/>
            <a:ext cx="32004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85" b="0" i="0">
                <a:solidFill>
                  <a:srgbClr val="6B7280"/>
                </a:solidFill>
                <a:latin typeface="Times New Roman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2624328"/>
            <a:ext cx="2651760" cy="420624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47872" y="2642616"/>
            <a:ext cx="250545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Attention and authority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3054096"/>
            <a:ext cx="32004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85" b="0" i="0">
                <a:solidFill>
                  <a:srgbClr val="6B7280"/>
                </a:solidFill>
                <a:latin typeface="Times New Roman"/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0" y="3191256"/>
            <a:ext cx="2651760" cy="420624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47872" y="3209544"/>
            <a:ext cx="250545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Larger reaction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2" y="3621024"/>
            <a:ext cx="32004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85" b="0" i="0">
                <a:solidFill>
                  <a:srgbClr val="6B7280"/>
                </a:solidFill>
                <a:latin typeface="Times New Roman"/>
              </a:rPr>
              <a:t>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3758184"/>
            <a:ext cx="2651760" cy="420624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47872" y="3776472"/>
            <a:ext cx="250545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No accuracy edge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5152" y="4187952"/>
            <a:ext cx="32004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85" b="0" i="0">
                <a:solidFill>
                  <a:srgbClr val="6B7280"/>
                </a:solidFill>
                <a:latin typeface="Times New Roman"/>
              </a:rPr>
              <a:t>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0" y="4325112"/>
            <a:ext cx="2651760" cy="420624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47872" y="4343400"/>
            <a:ext cx="250545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Partial reversal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1828800"/>
            <a:ext cx="516636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5" b="1" i="0">
                <a:solidFill>
                  <a:srgbClr val="B23A2B"/>
                </a:solidFill>
                <a:latin typeface="Times New Roman"/>
              </a:rPr>
              <a:t>H1. </a:t>
            </a:r>
            <a:r>
              <a:rPr sz="1755" b="0" i="0">
                <a:solidFill>
                  <a:srgbClr val="1F2A44"/>
                </a:solidFill>
                <a:latin typeface="Times New Roman"/>
              </a:rPr>
              <a:t>Star revisions produce larger announcement CAR and volume.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487168"/>
            <a:ext cx="516636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5" b="1" i="0">
                <a:solidFill>
                  <a:srgbClr val="B23A2B"/>
                </a:solidFill>
                <a:latin typeface="Times New Roman"/>
              </a:rPr>
              <a:t>H2. </a:t>
            </a:r>
            <a:r>
              <a:rPr sz="1755" b="0" i="0">
                <a:solidFill>
                  <a:srgbClr val="1F2A44"/>
                </a:solidFill>
                <a:latin typeface="Times New Roman"/>
              </a:rPr>
              <a:t>Information: drift continues. Influence: drift reverses.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145535"/>
            <a:ext cx="516636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5" b="1" i="0">
                <a:solidFill>
                  <a:srgbClr val="B23A2B"/>
                </a:solidFill>
                <a:latin typeface="Times New Roman"/>
              </a:rPr>
              <a:t>H3. </a:t>
            </a:r>
            <a:r>
              <a:rPr sz="1755" b="0" i="0">
                <a:solidFill>
                  <a:srgbClr val="1F2A44"/>
                </a:solidFill>
                <a:latin typeface="Times New Roman"/>
              </a:rPr>
              <a:t>Information: better forecasts. Influence: similar or worse.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803903"/>
            <a:ext cx="516636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55" b="1" i="0">
                <a:solidFill>
                  <a:srgbClr val="B23A2B"/>
                </a:solidFill>
                <a:latin typeface="Times New Roman"/>
              </a:rPr>
              <a:t>H4. </a:t>
            </a:r>
            <a:r>
              <a:rPr sz="1755" b="0" i="0">
                <a:solidFill>
                  <a:srgbClr val="1F2A44"/>
                </a:solidFill>
                <a:latin typeface="Times New Roman"/>
              </a:rPr>
              <a:t>The premium differs by direction and broker tier.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709160"/>
            <a:ext cx="5166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25" b="1" i="0">
                <a:solidFill>
                  <a:srgbClr val="B23A2B"/>
                </a:solidFill>
                <a:latin typeface="Times New Roman"/>
              </a:rPr>
              <a:t>H1 cannot separate the channels.
H2 and H3 do the work.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2578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82" b="0" i="1">
                <a:solidFill>
                  <a:srgbClr val="6B7280"/>
                </a:solidFill>
                <a:latin typeface="Times New Roman"/>
              </a:rPr>
              <a:t>Q1 to Q4 are four tests of this contrast, not four separate questions.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98932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47" b="0" i="0">
                <a:solidFill>
                  <a:srgbClr val="6B7280"/>
                </a:solidFill>
                <a:latin typeface="Times New Roman"/>
              </a:rPr>
              <a:t>Milgram (1963); Bonner, Hugon and Walther (2007); Loh and Stulz (2011); Fang and Yasuda (2009, 2014).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1" i="0" spc="100">
                <a:solidFill>
                  <a:srgbClr val="6B7280"/>
                </a:solidFill>
                <a:latin typeface="Times New Roman"/>
              </a:rPr>
              <a:t>DATA AND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24" b="1" i="0">
                <a:solidFill>
                  <a:srgbClr val="1F2A44"/>
                </a:solidFill>
                <a:latin typeface="Times New Roman"/>
              </a:rPr>
              <a:t>From 520,567 records to 20,980 usable revisions.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81328"/>
            <a:ext cx="10908792" cy="0"/>
          </a:xfrm>
          <a:prstGeom prst="line">
            <a:avLst/>
          </a:prstGeom>
          <a:ln w="15875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47" b="0" i="0" spc="60">
                <a:solidFill>
                  <a:srgbClr val="6B7280"/>
                </a:solidFill>
                <a:latin typeface="Times New Roman"/>
              </a:rP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82" b="0" i="0">
                <a:solidFill>
                  <a:srgbClr val="6B7280"/>
                </a:solidFill>
                <a:latin typeface="Times New Roman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50" b="1" i="0">
                <a:solidFill>
                  <a:srgbClr val="1F2A44"/>
                </a:solidFill>
                <a:latin typeface="Times New Roman"/>
              </a:rPr>
              <a:t>20,980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0" i="0">
                <a:solidFill>
                  <a:srgbClr val="6B7280"/>
                </a:solidFill>
                <a:latin typeface="Times New Roman"/>
              </a:rPr>
              <a:t>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78308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50" b="1" i="0">
                <a:solidFill>
                  <a:srgbClr val="1F2A44"/>
                </a:solidFill>
                <a:latin typeface="Times New Roman"/>
              </a:rPr>
              <a:t>2,683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28600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0" i="0">
                <a:solidFill>
                  <a:srgbClr val="6B7280"/>
                </a:solidFill>
                <a:latin typeface="Times New Roman"/>
              </a:rPr>
              <a:t>stocks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78308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50" b="1" i="0">
                <a:solidFill>
                  <a:srgbClr val="1F2A44"/>
                </a:solidFill>
                <a:latin typeface="Times New Roman"/>
              </a:rPr>
              <a:t>2,171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28600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0" i="0">
                <a:solidFill>
                  <a:srgbClr val="6B7280"/>
                </a:solidFill>
                <a:latin typeface="Times New Roman"/>
              </a:rPr>
              <a:t>analysts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78308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50" b="1" i="0">
                <a:solidFill>
                  <a:srgbClr val="1F2A44"/>
                </a:solidFill>
                <a:latin typeface="Times New Roman"/>
              </a:rPr>
              <a:t>13.2%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28600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0" i="0">
                <a:solidFill>
                  <a:srgbClr val="6B7280"/>
                </a:solidFill>
                <a:latin typeface="Times New Roman"/>
              </a:rPr>
              <a:t>star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20" b="1" i="0">
                <a:solidFill>
                  <a:srgbClr val="B23A2B"/>
                </a:solidFill>
                <a:latin typeface="Times New Roman"/>
              </a:rPr>
              <a:t>12,131 upgrades / 8,849 downgrades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4612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B23A2B"/>
                </a:solidFill>
                <a:latin typeface="Times New Roman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273552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1" i="0">
                <a:solidFill>
                  <a:srgbClr val="1F2A44"/>
                </a:solidFill>
                <a:latin typeface="Times New Roman"/>
              </a:rPr>
              <a:t>Raw rating detail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822191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90" b="1" i="0">
                <a:solidFill>
                  <a:srgbClr val="B23A2B"/>
                </a:solidFill>
                <a:latin typeface="Times New Roman"/>
              </a:rPr>
              <a:t>520,567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4015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60" b="0" i="0">
                <a:solidFill>
                  <a:srgbClr val="6B7280"/>
                </a:solidFill>
                <a:latin typeface="Times New Roman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24612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B23A2B"/>
                </a:solidFill>
                <a:latin typeface="Times New Roman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0752" y="3273552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1" i="0">
                <a:solidFill>
                  <a:srgbClr val="1F2A44"/>
                </a:solidFill>
                <a:latin typeface="Times New Roman"/>
              </a:rPr>
              <a:t>Remove duplicates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752" y="3822191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90" b="1" i="0">
                <a:solidFill>
                  <a:srgbClr val="B23A2B"/>
                </a:solidFill>
                <a:latin typeface="Times New Roman"/>
              </a:rPr>
              <a:t>517,871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34015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60" b="0" i="0">
                <a:solidFill>
                  <a:srgbClr val="6B7280"/>
                </a:solidFill>
                <a:latin typeface="Times New Roman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24612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B23A2B"/>
                </a:solidFill>
                <a:latin typeface="Times New Roman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273552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1" i="0">
                <a:solidFill>
                  <a:srgbClr val="1F2A44"/>
                </a:solidFill>
                <a:latin typeface="Times New Roman"/>
              </a:rPr>
              <a:t>Keep upgrades / downgrades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3822191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90" b="1" i="0">
                <a:solidFill>
                  <a:srgbClr val="B23A2B"/>
                </a:solidFill>
                <a:latin typeface="Times New Roman"/>
              </a:rPr>
              <a:t>21,471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4015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60" b="0" i="0">
                <a:solidFill>
                  <a:srgbClr val="6B7280"/>
                </a:solidFill>
                <a:latin typeface="Times New Roman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24612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B23A2B"/>
                </a:solidFill>
                <a:latin typeface="Times New Roman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3273552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1" i="0">
                <a:solidFill>
                  <a:srgbClr val="1F2A44"/>
                </a:solidFill>
                <a:latin typeface="Times New Roman"/>
              </a:rPr>
              <a:t>Drop IPO &lt; 6m and 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7152" y="3822191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90" b="1" i="0">
                <a:solidFill>
                  <a:srgbClr val="B23A2B"/>
                </a:solidFill>
                <a:latin typeface="Times New Roman"/>
              </a:rPr>
              <a:t>20,980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800600"/>
            <a:ext cx="10881360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20" b="1" i="0">
                <a:solidFill>
                  <a:srgbClr val="1F2A44"/>
                </a:solidFill>
                <a:latin typeface="Times New Roman"/>
              </a:rPr>
              <a:t>Unit: one analyst-stock rating revision.
Not a report. Not an initiation.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532120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85" b="0" i="0">
                <a:solidFill>
                  <a:srgbClr val="B23A2B"/>
                </a:solidFill>
                <a:latin typeface="Times New Roman"/>
              </a:rPr>
              <a:t>42,276 initiations are stored separately and excluded.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23620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47" b="0" i="0">
                <a:solidFill>
                  <a:srgbClr val="6B7280"/>
                </a:solidFill>
                <a:latin typeface="Times New Roman"/>
              </a:rPr>
              <a:t>iFinD THS_iwencai, pulled 5 October 2026. Market data: Dretwd and H00300.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1" i="0" spc="100">
                <a:solidFill>
                  <a:srgbClr val="6B7280"/>
                </a:solidFill>
                <a:latin typeface="Times New Roman"/>
              </a:rPr>
              <a:t>MEASURING AUTHORITY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24" b="1" i="0">
                <a:solidFill>
                  <a:srgbClr val="1F2A44"/>
                </a:solidFill>
                <a:latin typeface="Times New Roman"/>
              </a:rPr>
              <a:t>Three proxies: star status, seniority, and broker tier.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81328"/>
            <a:ext cx="10908792" cy="0"/>
          </a:xfrm>
          <a:prstGeom prst="line">
            <a:avLst/>
          </a:prstGeom>
          <a:ln w="15875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47" b="0" i="0" spc="60">
                <a:solidFill>
                  <a:srgbClr val="6B7280"/>
                </a:solidFill>
                <a:latin typeface="Times New Roman"/>
              </a:rPr>
              <a:t>MEASUREMENT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82" b="0" i="0">
                <a:solidFill>
                  <a:srgbClr val="6B7280"/>
                </a:solidFill>
                <a:latin typeface="Times New Roman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429000" cy="3337560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3429000" cy="5029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5681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82" b="1" i="0" spc="60">
                <a:solidFill>
                  <a:srgbClr val="6B7280"/>
                </a:solidFill>
                <a:latin typeface="Times New Roman"/>
              </a:rPr>
              <a:t>STAR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94560"/>
            <a:ext cx="3108960" cy="2880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22" b="0" i="0">
                <a:solidFill>
                  <a:srgbClr val="1F2A44"/>
                </a:solidFill>
                <a:latin typeface="Times New Roman"/>
              </a:rPr>
              <a:t>New Fortune list in force. 2,774 events, 13.2%. 2018 inherits 2017.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429000" cy="3337560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3429000" cy="5029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5681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82" b="1" i="0" spc="60">
                <a:solidFill>
                  <a:srgbClr val="6B7280"/>
                </a:solidFill>
                <a:latin typeface="Times New Roman"/>
              </a:rPr>
              <a:t>SENIORITY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3108960" cy="2880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22" b="0" i="0">
                <a:solidFill>
                  <a:srgbClr val="1F2A44"/>
                </a:solidFill>
                <a:latin typeface="Times New Roman"/>
              </a:rPr>
              <a:t>Years since first report. Source floor June 2009. Event-day variant differs by at most 0.027 years.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59" y="1828800"/>
            <a:ext cx="3429000" cy="3337560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59" y="1828800"/>
            <a:ext cx="3429000" cy="50292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9" y="1956816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82" b="1" i="0" spc="60">
                <a:solidFill>
                  <a:srgbClr val="6B7280"/>
                </a:solidFill>
                <a:latin typeface="Times New Roman"/>
              </a:rPr>
              <a:t>BROKER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2194560"/>
            <a:ext cx="3108960" cy="2880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22" b="0" i="0">
                <a:solidFill>
                  <a:srgbClr val="1F2A44"/>
                </a:solidFill>
                <a:latin typeface="Times New Roman"/>
              </a:rPr>
              <a:t>Cumulative rating-record share: 50% and 90%. 13 / 26 / 85 houses. Stable identity, in-year display.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90" b="1" i="0">
                <a:solidFill>
                  <a:srgbClr val="B23A2B"/>
                </a:solidFill>
                <a:latin typeface="Times New Roman"/>
              </a:rPr>
              <a:t>A 2018 国泰君安 report is never relabeled 国泰海通.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1" i="0" spc="100">
                <a:solidFill>
                  <a:srgbClr val="6B7280"/>
                </a:solidFill>
                <a:latin typeface="Times New Roman"/>
              </a:rPr>
              <a:t>EMPIRICAL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24" b="1" i="0">
                <a:solidFill>
                  <a:srgbClr val="1F2A44"/>
                </a:solidFill>
                <a:latin typeface="Times New Roman"/>
              </a:rPr>
              <a:t>One event window, one drift path, two accuracy metrics.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81328"/>
            <a:ext cx="10908792" cy="0"/>
          </a:xfrm>
          <a:prstGeom prst="line">
            <a:avLst/>
          </a:prstGeom>
          <a:ln w="15875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47" b="0" i="0" spc="60">
                <a:solidFill>
                  <a:srgbClr val="6B7280"/>
                </a:solidFill>
                <a:latin typeface="Times New Roman"/>
              </a:rPr>
              <a:t>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82" b="0" i="0">
                <a:solidFill>
                  <a:srgbClr val="6B7280"/>
                </a:solidFill>
                <a:latin typeface="Times New Roman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 spc="70">
                <a:solidFill>
                  <a:srgbClr val="B23A2B"/>
                </a:solidFill>
                <a:latin typeface="Times New Roman"/>
              </a:rPr>
              <a:t>ANNOUNCEMENT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3429000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87" b="0" i="0">
                <a:solidFill>
                  <a:srgbClr val="1F2A44"/>
                </a:solidFill>
                <a:latin typeface="Times New Roman"/>
              </a:rPr>
              <a:t>CAR[-1,+1], [-1,+5], [-5,+5]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87" b="0" i="0">
                <a:solidFill>
                  <a:srgbClr val="1F2A44"/>
                </a:solidFill>
                <a:latin typeface="Times New Roman"/>
              </a:rPr>
              <a:t>AV = log volume minus [-120,-11] mean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87" b="0" i="0">
                <a:solidFill>
                  <a:srgbClr val="1F2A44"/>
                </a:solidFill>
                <a:latin typeface="Times New Roman"/>
              </a:rPr>
              <a:t>80% valid observations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783080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 spc="70">
                <a:solidFill>
                  <a:srgbClr val="B23A2B"/>
                </a:solidFill>
                <a:latin typeface="Times New Roman"/>
              </a:rPr>
              <a:t>DRIFT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48840"/>
            <a:ext cx="3429000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87" b="0" i="0">
                <a:solidFill>
                  <a:srgbClr val="1F2A44"/>
                </a:solidFill>
                <a:latin typeface="Times New Roman"/>
              </a:rPr>
              <a:t>CAR +2 to +60, +120, +250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87" b="0" i="0">
                <a:solidFill>
                  <a:srgbClr val="1F2A44"/>
                </a:solidFill>
                <a:latin typeface="Times New Roman"/>
              </a:rPr>
              <a:t>Holding returns 63, 126, 252 days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87" b="0" i="0">
                <a:solidFill>
                  <a:srgbClr val="1F2A44"/>
                </a:solidFill>
                <a:latin typeface="Times New Roman"/>
              </a:rPr>
              <a:t>Direction-adjusted, market-adjusted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59" y="1783080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 spc="70">
                <a:solidFill>
                  <a:srgbClr val="B23A2B"/>
                </a:solidFill>
                <a:latin typeface="Times New Roman"/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2148840"/>
            <a:ext cx="3429000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87" b="0" i="0">
                <a:solidFill>
                  <a:srgbClr val="1F2A44"/>
                </a:solidFill>
                <a:latin typeface="Times New Roman"/>
              </a:rPr>
              <a:t>|forecast EPS - actual EPS| / price x 100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87" b="0" i="0">
                <a:solidFill>
                  <a:srgbClr val="1F2A44"/>
                </a:solidFill>
                <a:latin typeface="Times New Roman"/>
              </a:rPr>
              <a:t>FY0 and FY1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87" b="0" i="0">
                <a:solidFill>
                  <a:srgbClr val="1F2A44"/>
                </a:solidFill>
                <a:latin typeface="Times New Roman"/>
              </a:rPr>
              <a:t>Winsorised at 1/99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709160"/>
            <a:ext cx="10908792" cy="960120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828032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30" b="0" i="0">
                <a:solidFill>
                  <a:srgbClr val="1F2A44"/>
                </a:solidFill>
                <a:latin typeface="Times New Roman"/>
              </a:rPr>
              <a:t>CAR_i = sum_t (r_i,t - r_m,t)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828032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30" b="0" i="0">
                <a:solidFill>
                  <a:srgbClr val="1F2A44"/>
                </a:solidFill>
                <a:latin typeface="Times New Roman"/>
              </a:rPr>
              <a:t>AV_i = ln V_i,0 - mean ln V_i,t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0644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1">
                <a:solidFill>
                  <a:srgbClr val="6B7280"/>
                </a:solidFill>
                <a:latin typeface="Times New Roman"/>
              </a:rPr>
              <a:t>Event day = first trading day at or after the report date. Suspended days are missing, never zero.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1" i="0" spc="100">
                <a:solidFill>
                  <a:srgbClr val="6B7280"/>
                </a:solidFill>
                <a:latin typeface="Times New Roman"/>
              </a:rPr>
              <a:t>FINDING 1 · Q1 · RETURNS AND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24" b="1" i="0">
                <a:solidFill>
                  <a:srgbClr val="1F2A44"/>
                </a:solidFill>
                <a:latin typeface="Times New Roman"/>
              </a:rPr>
              <a:t>Star upgrades move both price and volume.
Star downgrades move neither.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81328"/>
            <a:ext cx="10908792" cy="0"/>
          </a:xfrm>
          <a:prstGeom prst="line">
            <a:avLst/>
          </a:prstGeom>
          <a:ln w="15875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47" b="0" i="0" spc="60">
                <a:solidFill>
                  <a:srgbClr val="6B7280"/>
                </a:solidFill>
                <a:latin typeface="Times New Roman"/>
              </a:rPr>
              <a:t>FINDING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82" b="0" i="0">
                <a:solidFill>
                  <a:srgbClr val="6B7280"/>
                </a:solidFill>
                <a:latin typeface="Times New Roman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27632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1" i="0" spc="80">
                <a:solidFill>
                  <a:srgbClr val="6B7280"/>
                </a:solidFill>
                <a:latin typeface="Times New Roman"/>
              </a:rPr>
              <a:t>UPGRADES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27632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1" i="0" spc="80">
                <a:solidFill>
                  <a:srgbClr val="6B7280"/>
                </a:solidFill>
                <a:latin typeface="Times New Roman"/>
              </a:rPr>
              <a:t>DOWNGRADES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920240"/>
            <a:ext cx="4389120" cy="1645920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0" y="1920240"/>
            <a:ext cx="4389120" cy="54864"/>
          </a:xfrm>
          <a:prstGeom prst="rect">
            <a:avLst/>
          </a:prstGeom>
          <a:solidFill>
            <a:srgbClr val="B2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29968" y="2066544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 spc="50">
                <a:solidFill>
                  <a:srgbClr val="6B7280"/>
                </a:solidFill>
                <a:latin typeface="Times New Roman"/>
              </a:rPr>
              <a:t>UPGRADE · CAR[-1,+1]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2359152"/>
            <a:ext cx="3977639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130" b="1" i="0">
                <a:solidFill>
                  <a:srgbClr val="B23A2B"/>
                </a:solidFill>
                <a:latin typeface="Times New Roman"/>
              </a:rPr>
              <a:t>+0.37 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3063240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star minus non-star, t = 2.17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920240"/>
            <a:ext cx="4389120" cy="1645920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920240"/>
            <a:ext cx="4389120" cy="54864"/>
          </a:xfrm>
          <a:prstGeom prst="rect">
            <a:avLst/>
          </a:prstGeom>
          <a:solidFill>
            <a:srgbClr val="B2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2066544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 spc="50">
                <a:solidFill>
                  <a:srgbClr val="6B7280"/>
                </a:solidFill>
                <a:latin typeface="Times New Roman"/>
              </a:rPr>
              <a:t>UPGRADE · ABNORMAL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359152"/>
            <a:ext cx="3977639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130" b="1" i="0">
                <a:solidFill>
                  <a:srgbClr val="B23A2B"/>
                </a:solidFill>
                <a:latin typeface="Times New Roman"/>
              </a:rPr>
              <a:t>+0.053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3063240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log points, t = 2.85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3840480"/>
            <a:ext cx="4389120" cy="1645920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8800" y="3840480"/>
            <a:ext cx="4389120" cy="54864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29968" y="3986784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 spc="50">
                <a:solidFill>
                  <a:srgbClr val="6B7280"/>
                </a:solidFill>
                <a:latin typeface="Times New Roman"/>
              </a:rPr>
              <a:t>DOWNGRADE · CAR[-1,+1]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8" y="4279392"/>
            <a:ext cx="3977639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130" b="1" i="0">
                <a:solidFill>
                  <a:srgbClr val="1F2A44"/>
                </a:solidFill>
                <a:latin typeface="Times New Roman"/>
              </a:rPr>
              <a:t>+0.06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9968" y="4983480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t = 0.35, n.s.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840480"/>
            <a:ext cx="4389120" cy="1645920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840480"/>
            <a:ext cx="4389120" cy="54864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3986784"/>
            <a:ext cx="397763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 spc="50">
                <a:solidFill>
                  <a:srgbClr val="6B7280"/>
                </a:solidFill>
                <a:latin typeface="Times New Roman"/>
              </a:rPr>
              <a:t>DOWNGRADE · ABNORMAL VOLUME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4279392"/>
            <a:ext cx="3977639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130" b="1" i="0">
                <a:solidFill>
                  <a:srgbClr val="1F2A44"/>
                </a:solidFill>
                <a:latin typeface="Times New Roman"/>
              </a:rPr>
              <a:t>-0.011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4983480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log points, t = -0.53, n.s.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90" b="1" i="0">
                <a:solidFill>
                  <a:srgbClr val="B23A2B"/>
                </a:solidFill>
                <a:latin typeface="Times New Roman"/>
              </a:rPr>
              <a:t>Price and volume move together, and only for upgrades.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23620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47" b="0" i="0">
                <a:solidFill>
                  <a:srgbClr val="6B7280"/>
                </a:solidFill>
                <a:latin typeface="Times New Roman"/>
              </a:rPr>
              <a:t>Source: iFinD; authors' calculations. All cells are star minus non-star.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1" i="0" spc="100">
                <a:solidFill>
                  <a:srgbClr val="6B7280"/>
                </a:solidFill>
                <a:latin typeface="Times New Roman"/>
              </a:rPr>
              <a:t>FINDING 1 · Q1 · WHERE DOES THE CAR PREMIUM COME FROM?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24" b="1" i="0">
                <a:solidFill>
                  <a:srgbClr val="1F2A44"/>
                </a:solidFill>
                <a:latin typeface="Times New Roman"/>
              </a:rPr>
              <a:t>The CAR premium is concentrated in price-limit events.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81328"/>
            <a:ext cx="10908792" cy="0"/>
          </a:xfrm>
          <a:prstGeom prst="line">
            <a:avLst/>
          </a:prstGeom>
          <a:ln w="15875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47" b="0" i="0" spc="60">
                <a:solidFill>
                  <a:srgbClr val="6B7280"/>
                </a:solidFill>
                <a:latin typeface="Times New Roman"/>
              </a:rPr>
              <a:t>FINDING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82" b="0" i="0">
                <a:solidFill>
                  <a:srgbClr val="6B7280"/>
                </a:solidFill>
                <a:latin typeface="Times New Roman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7452360" cy="29626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2651760"/>
                <a:gridCol w="2880360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755" b="1">
                          <a:solidFill>
                            <a:srgbClr val="FFFFFF"/>
                          </a:solidFill>
                          <a:latin typeface="Times New Roman"/>
                        </a:rPr>
                        <a:t>Window</a:t>
                      </a:r>
                    </a:p>
                  </a:txBody>
                  <a:tcPr marL="109728" marR="73152" marT="36576" marB="36576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55" b="1">
                          <a:solidFill>
                            <a:srgbClr val="FFFFFF"/>
                          </a:solidFill>
                          <a:latin typeface="Times New Roman"/>
                        </a:rPr>
                        <a:t>Full sample</a:t>
                      </a:r>
                    </a:p>
                  </a:txBody>
                  <a:tcPr marL="109728" marR="73152" marT="36576" marB="36576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55" b="1">
                          <a:solidFill>
                            <a:srgbClr val="FFFFFF"/>
                          </a:solidFill>
                          <a:latin typeface="Times New Roman"/>
                        </a:rPr>
                        <a:t>Excluding limit-hit events</a:t>
                      </a:r>
                    </a:p>
                  </a:txBody>
                  <a:tcPr marL="109728" marR="73152" marT="36576" marB="36576" anchor="ctr">
                    <a:solidFill>
                      <a:srgbClr val="1F2A44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822" b="0">
                          <a:solidFill>
                            <a:srgbClr val="1F2A44"/>
                          </a:solidFill>
                          <a:latin typeface="Times New Roman"/>
                        </a:rPr>
                        <a:t>[-1,+1]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22" b="1">
                          <a:solidFill>
                            <a:srgbClr val="B23A2B"/>
                          </a:solidFill>
                          <a:latin typeface="Times New Roman"/>
                        </a:rPr>
                        <a:t>+0.37  (p = 0.030)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22" b="1">
                          <a:solidFill>
                            <a:srgbClr val="B23A2B"/>
                          </a:solidFill>
                          <a:latin typeface="Times New Roman"/>
                        </a:rPr>
                        <a:t>+0.21  (p = 0.134)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822" b="0">
                          <a:solidFill>
                            <a:srgbClr val="1F2A44"/>
                          </a:solidFill>
                          <a:latin typeface="Times New Roman"/>
                        </a:rPr>
                        <a:t>[-1,+5]</a:t>
                      </a:r>
                    </a:p>
                  </a:txBody>
                  <a:tcPr marL="109728" marR="73152" marT="36576" marB="36576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22" b="1">
                          <a:solidFill>
                            <a:srgbClr val="B23A2B"/>
                          </a:solidFill>
                          <a:latin typeface="Times New Roman"/>
                        </a:rPr>
                        <a:t>+0.54  (p = 0.021)</a:t>
                      </a:r>
                    </a:p>
                  </a:txBody>
                  <a:tcPr marL="109728" marR="73152" marT="36576" marB="36576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22" b="1">
                          <a:solidFill>
                            <a:srgbClr val="B23A2B"/>
                          </a:solidFill>
                          <a:latin typeface="Times New Roman"/>
                        </a:rPr>
                        <a:t>+0.20  (p = 0.310)</a:t>
                      </a:r>
                    </a:p>
                  </a:txBody>
                  <a:tcPr marL="109728" marR="73152" marT="36576" marB="36576" anchor="ctr">
                    <a:solidFill>
                      <a:srgbClr val="F4F1EC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822" b="0">
                          <a:solidFill>
                            <a:srgbClr val="1F2A44"/>
                          </a:solidFill>
                          <a:latin typeface="Times New Roman"/>
                        </a:rPr>
                        <a:t>[-5,+5]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22" b="1">
                          <a:solidFill>
                            <a:srgbClr val="B23A2B"/>
                          </a:solidFill>
                          <a:latin typeface="Times New Roman"/>
                        </a:rPr>
                        <a:t>+0.99  (p = 0.0004)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22" b="1">
                          <a:solidFill>
                            <a:srgbClr val="B23A2B"/>
                          </a:solidFill>
                          <a:latin typeface="Times New Roman"/>
                        </a:rPr>
                        <a:t>+0.65  (p = 0.008)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12480" y="1874519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55" b="0" i="0">
                <a:solidFill>
                  <a:srgbClr val="1F2A44"/>
                </a:solidFill>
                <a:latin typeface="Times New Roman"/>
              </a:rPr>
              <a:t>Removes 8.7% to 16.0% of upgrade events.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88036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52" b="0" i="0">
                <a:solidFill>
                  <a:srgbClr val="6B7280"/>
                </a:solidFill>
                <a:latin typeface="Times New Roman"/>
              </a:rPr>
              <a:t>The 3-day and 5-day CAR premiums lose significance. The 11-day CAR premium remains.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406908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1">
                <a:solidFill>
                  <a:srgbClr val="6B7280"/>
                </a:solidFill>
                <a:latin typeface="Times New Roman"/>
              </a:rPr>
              <a:t>This check covers CAR, not abnormal volume.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4068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20" b="1" i="0">
                <a:solidFill>
                  <a:srgbClr val="B23A2B"/>
                </a:solidFill>
                <a:latin typeface="Times New Roman"/>
              </a:rPr>
              <a:t>Only the 11-day CAR window survives. We do not call the 3-day CAR result robust to price limits.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3620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47" b="0" i="0">
                <a:solidFill>
                  <a:srgbClr val="6B7280"/>
                </a:solidFill>
                <a:latin typeface="Times New Roman"/>
              </a:rPr>
              <a:t>Source: iFinD; authors' calculations. Market-adjusted CAR.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1" i="0" spc="100">
                <a:solidFill>
                  <a:srgbClr val="6B7280"/>
                </a:solidFill>
                <a:latin typeface="Times New Roman"/>
              </a:rPr>
              <a:t>FINDING 2 · Q2 · DRIFT OR REVERSAL?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24" b="1" i="0">
                <a:solidFill>
                  <a:srgbClr val="1F2A44"/>
                </a:solidFill>
                <a:latin typeface="Times New Roman"/>
              </a:rPr>
              <a:t>Star downgrades drift down, then reverse.
Star upgrades do not drift.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81328"/>
            <a:ext cx="10908792" cy="0"/>
          </a:xfrm>
          <a:prstGeom prst="line">
            <a:avLst/>
          </a:prstGeom>
          <a:ln w="15875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47" b="0" i="0" spc="60">
                <a:solidFill>
                  <a:srgbClr val="6B7280"/>
                </a:solidFill>
                <a:latin typeface="Times New Roman"/>
              </a:rPr>
              <a:t>FINDING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82" b="0" i="0">
                <a:solidFill>
                  <a:srgbClr val="6B7280"/>
                </a:solidFill>
                <a:latin typeface="Times New Roman"/>
              </a:rPr>
              <a:t>9</a:t>
            </a:r>
          </a:p>
        </p:txBody>
      </p:sp>
      <p:pic>
        <p:nvPicPr>
          <p:cNvPr id="7" name="Picture 6" descr="Bar chart of post-announcement drift for upgrades and downgrad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5989320" cy="3886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1627632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82" b="1" i="0" spc="60">
                <a:solidFill>
                  <a:srgbClr val="6B7280"/>
                </a:solidFill>
                <a:latin typeface="Times New Roman"/>
              </a:rPr>
              <a:t>STAR MINUS NON-STAR CAR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0" y="1874519"/>
          <a:ext cx="466344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1691640"/>
                <a:gridCol w="1691640"/>
              </a:tblGrid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87" b="1">
                          <a:solidFill>
                            <a:srgbClr val="FFFFFF"/>
                          </a:solidFill>
                          <a:latin typeface="Times New Roman"/>
                        </a:rPr>
                        <a:t>Horizon</a:t>
                      </a:r>
                    </a:p>
                  </a:txBody>
                  <a:tcPr marL="73152" marR="54864" marT="36576" marB="36576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87" b="1">
                          <a:solidFill>
                            <a:srgbClr val="FFFFFF"/>
                          </a:solidFill>
                          <a:latin typeface="Times New Roman"/>
                        </a:rPr>
                        <a:t>Downgrade</a:t>
                      </a:r>
                    </a:p>
                  </a:txBody>
                  <a:tcPr marL="73152" marR="54864" marT="36576" marB="36576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87" b="1">
                          <a:solidFill>
                            <a:srgbClr val="FFFFFF"/>
                          </a:solidFill>
                          <a:latin typeface="Times New Roman"/>
                        </a:rPr>
                        <a:t>Upgrade</a:t>
                      </a:r>
                    </a:p>
                  </a:txBody>
                  <a:tcPr marL="73152" marR="54864" marT="36576" marB="36576" anchor="ctr">
                    <a:solidFill>
                      <a:srgbClr val="1F2A4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822" b="0">
                          <a:solidFill>
                            <a:srgbClr val="1F2A44"/>
                          </a:solidFill>
                          <a:latin typeface="Times New Roman"/>
                        </a:rPr>
                        <a:t>+2 to +60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22" b="1">
                          <a:solidFill>
                            <a:srgbClr val="B23A2B"/>
                          </a:solidFill>
                          <a:latin typeface="Times New Roman"/>
                        </a:rPr>
                        <a:t>-1.64 (p=.002)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22" b="1">
                          <a:solidFill>
                            <a:srgbClr val="1F2A44"/>
                          </a:solidFill>
                          <a:latin typeface="Times New Roman"/>
                        </a:rPr>
                        <a:t>-0.07 (p=.90)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822" b="0">
                          <a:solidFill>
                            <a:srgbClr val="1F2A44"/>
                          </a:solidFill>
                          <a:latin typeface="Times New Roman"/>
                        </a:rPr>
                        <a:t>+2 to +120</a:t>
                      </a:r>
                    </a:p>
                  </a:txBody>
                  <a:tcPr marL="73152" marR="54864" marT="36576" marB="36576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22" b="1">
                          <a:solidFill>
                            <a:srgbClr val="B23A2B"/>
                          </a:solidFill>
                          <a:latin typeface="Times New Roman"/>
                        </a:rPr>
                        <a:t>-0.76 (p=.32)</a:t>
                      </a:r>
                    </a:p>
                  </a:txBody>
                  <a:tcPr marL="73152" marR="54864" marT="36576" marB="36576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22" b="1">
                          <a:solidFill>
                            <a:srgbClr val="1F2A44"/>
                          </a:solidFill>
                          <a:latin typeface="Times New Roman"/>
                        </a:rPr>
                        <a:t>+0.98 (p=.16)</a:t>
                      </a:r>
                    </a:p>
                  </a:txBody>
                  <a:tcPr marL="73152" marR="54864" marT="36576" marB="36576" anchor="ctr">
                    <a:solidFill>
                      <a:srgbClr val="F4F1E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822" b="0">
                          <a:solidFill>
                            <a:srgbClr val="1F2A44"/>
                          </a:solidFill>
                          <a:latin typeface="Times New Roman"/>
                        </a:rPr>
                        <a:t>+2 to +250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22" b="1">
                          <a:solidFill>
                            <a:srgbClr val="B23A2B"/>
                          </a:solidFill>
                          <a:latin typeface="Times New Roman"/>
                        </a:rPr>
                        <a:t>+1.53 (p=.18)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22" b="1">
                          <a:solidFill>
                            <a:srgbClr val="1F2A44"/>
                          </a:solidFill>
                          <a:latin typeface="Times New Roman"/>
                        </a:rPr>
                        <a:t>+0.76 (p=.48)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0" y="4937760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2" b="1" i="0">
                <a:solidFill>
                  <a:srgbClr val="B23A2B"/>
                </a:solidFill>
                <a:latin typeface="Times New Roman"/>
              </a:rPr>
              <a:t>Downgrades: -1.64 at +60, then +1.53 at +250.
Upgrades: no differential drift.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5559552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47" b="0" i="1">
                <a:solidFill>
                  <a:srgbClr val="6B7280"/>
                </a:solidFill>
                <a:latin typeface="Times New Roman"/>
              </a:rPr>
              <a:t>Consistent with delayed following, not proof of over-following: the downgrade announcement reaction itself is not larger.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3620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47" b="0" i="0">
                <a:solidFill>
                  <a:srgbClr val="6B7280"/>
                </a:solidFill>
                <a:latin typeface="Times New Roman"/>
              </a:rPr>
              <a:t>Source: iFinD; authors' calculations. Market-adjusted CAR from +2.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1" i="0" spc="100">
                <a:solidFill>
                  <a:srgbClr val="6B7280"/>
                </a:solidFill>
                <a:latin typeface="Times New Roman"/>
              </a:rPr>
              <a:t>FINDING 3 · Q3 · ARE STARS MORE ACCURATE EX POST?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24" b="1" i="0">
                <a:solidFill>
                  <a:srgbClr val="1F2A44"/>
                </a:solidFill>
                <a:latin typeface="Times New Roman"/>
              </a:rPr>
              <a:t>Stars show a short-lived return edge,
not better forecasts.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81328"/>
            <a:ext cx="10908792" cy="0"/>
          </a:xfrm>
          <a:prstGeom prst="line">
            <a:avLst/>
          </a:prstGeom>
          <a:ln w="15875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47" b="0" i="0" spc="60">
                <a:solidFill>
                  <a:srgbClr val="6B7280"/>
                </a:solidFill>
                <a:latin typeface="Times New Roman"/>
              </a:rPr>
              <a:t>FINDING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82" b="0" i="0">
                <a:solidFill>
                  <a:srgbClr val="6B7280"/>
                </a:solidFill>
                <a:latin typeface="Times New Roman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82" b="1" i="0" spc="50">
                <a:solidFill>
                  <a:srgbClr val="6B7280"/>
                </a:solidFill>
                <a:latin typeface="Times New Roman"/>
              </a:rPr>
              <a:t>HOLDING RETURNS (STAR MINUS NON-STAR)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572768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82" b="1" i="0" spc="50">
                <a:solidFill>
                  <a:srgbClr val="6B7280"/>
                </a:solidFill>
                <a:latin typeface="Times New Roman"/>
              </a:rPr>
              <a:t>FORECAST ERRORS (STAR MINUS NON-STAR)</a:t>
            </a:r>
          </a:p>
        </p:txBody>
      </p:sp>
      <p:pic>
        <p:nvPicPr>
          <p:cNvPr id="9" name="Picture 8" descr="Bar chart of direction-adjusted holding returns for upgrades and downgrad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5806440" cy="376732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675120" y="1783080"/>
            <a:ext cx="2286000" cy="1280160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0" y="1783080"/>
            <a:ext cx="2286000" cy="45720"/>
          </a:xfrm>
          <a:prstGeom prst="rect">
            <a:avLst/>
          </a:prstGeom>
          <a:solidFill>
            <a:srgbClr val="B2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911095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1" i="0" spc="50">
                <a:solidFill>
                  <a:srgbClr val="6B7280"/>
                </a:solidFill>
                <a:latin typeface="Times New Roman"/>
              </a:rPr>
              <a:t>FY0 UPGRADE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1305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780" b="1" i="0">
                <a:solidFill>
                  <a:srgbClr val="B23A2B"/>
                </a:solidFill>
                <a:latin typeface="Times New Roman"/>
              </a:rPr>
              <a:t>+0.28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69748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0" i="0">
                <a:solidFill>
                  <a:srgbClr val="6B7280"/>
                </a:solidFill>
                <a:latin typeface="Times New Roman"/>
              </a:rPr>
              <a:t>p = 0.002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783080"/>
            <a:ext cx="2286000" cy="1280160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0" y="1783080"/>
            <a:ext cx="2286000" cy="45720"/>
          </a:xfrm>
          <a:prstGeom prst="rect">
            <a:avLst/>
          </a:prstGeom>
          <a:solidFill>
            <a:srgbClr val="B2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911095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1" i="0" spc="50">
                <a:solidFill>
                  <a:srgbClr val="6B7280"/>
                </a:solidFill>
                <a:latin typeface="Times New Roman"/>
              </a:rPr>
              <a:t>FY0 DOWNGRADE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1305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780" b="1" i="0">
                <a:solidFill>
                  <a:srgbClr val="B23A2B"/>
                </a:solidFill>
                <a:latin typeface="Times New Roman"/>
              </a:rPr>
              <a:t>+0.46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69748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0" i="0">
                <a:solidFill>
                  <a:srgbClr val="6B7280"/>
                </a:solidFill>
                <a:latin typeface="Times New Roman"/>
              </a:rPr>
              <a:t>p = 0.002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246120"/>
            <a:ext cx="2286000" cy="1280160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5120" y="3246120"/>
            <a:ext cx="2286000" cy="45720"/>
          </a:xfrm>
          <a:prstGeom prst="rect">
            <a:avLst/>
          </a:prstGeom>
          <a:solidFill>
            <a:srgbClr val="B2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337413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1" i="0" spc="50">
                <a:solidFill>
                  <a:srgbClr val="6B7280"/>
                </a:solidFill>
                <a:latin typeface="Times New Roman"/>
              </a:rPr>
              <a:t>FY1 UPGRADE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593591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780" b="1" i="0">
                <a:solidFill>
                  <a:srgbClr val="B23A2B"/>
                </a:solidFill>
                <a:latin typeface="Times New Roman"/>
              </a:rPr>
              <a:t>+0.40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416052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0" i="0">
                <a:solidFill>
                  <a:srgbClr val="6B7280"/>
                </a:solidFill>
                <a:latin typeface="Times New Roman"/>
              </a:rPr>
              <a:t>p = 0.009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3246120"/>
            <a:ext cx="2286000" cy="1280160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3246120"/>
            <a:ext cx="2286000" cy="45720"/>
          </a:xfrm>
          <a:prstGeom prst="rect">
            <a:avLst/>
          </a:prstGeom>
          <a:solidFill>
            <a:srgbClr val="B2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337413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1" i="0" spc="50">
                <a:solidFill>
                  <a:srgbClr val="6B7280"/>
                </a:solidFill>
                <a:latin typeface="Times New Roman"/>
              </a:rPr>
              <a:t>FY1 DOWNGRADE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593591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780" b="1" i="0">
                <a:solidFill>
                  <a:srgbClr val="B23A2B"/>
                </a:solidFill>
                <a:latin typeface="Times New Roman"/>
              </a:rPr>
              <a:t>+0.94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416052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0" i="0">
                <a:solidFill>
                  <a:srgbClr val="6B7280"/>
                </a:solidFill>
                <a:latin typeface="Times New Roman"/>
              </a:rPr>
              <a:t>p &lt; 0.001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75488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82" b="0" i="0">
                <a:solidFill>
                  <a:srgbClr val="1F2A44"/>
                </a:solidFill>
                <a:latin typeface="Times New Roman"/>
              </a:rPr>
              <a:t>Holding returns: +1.51 at 6m (up, p=.048); +1.78 at 3m (down, p=.001); no 12m persistence.
Forecast errors: larger in all four cells.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7607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20" b="1" i="0">
                <a:solidFill>
                  <a:srgbClr val="B23A2B"/>
                </a:solidFill>
                <a:latin typeface="Times New Roman"/>
              </a:rPr>
              <a:t>A short-lived return edge, not a stable accuracy advantage.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23620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47" b="0" i="0">
                <a:solidFill>
                  <a:srgbClr val="6B7280"/>
                </a:solidFill>
                <a:latin typeface="Times New Roman"/>
              </a:rPr>
              <a:t>Source: iFinD; authors' calculations. Holding returns market-adjusted; forecast error winsorised at 1/99.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1" i="0" spc="100">
                <a:solidFill>
                  <a:srgbClr val="6B7280"/>
                </a:solidFill>
                <a:latin typeface="Times New Roman"/>
              </a:rPr>
              <a:t>FINDING 4 · Q4 · DOES THE PREMIUM VARY?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24" b="1" i="0">
                <a:solidFill>
                  <a:srgbClr val="1F2A44"/>
                </a:solidFill>
                <a:latin typeface="Times New Roman"/>
              </a:rPr>
              <a:t>The premium is one-sided.
Tier differences are not stable.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81328"/>
            <a:ext cx="10908792" cy="0"/>
          </a:xfrm>
          <a:prstGeom prst="line">
            <a:avLst/>
          </a:prstGeom>
          <a:ln w="15875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47" b="0" i="0" spc="60">
                <a:solidFill>
                  <a:srgbClr val="6B7280"/>
                </a:solidFill>
                <a:latin typeface="Times New Roman"/>
              </a:rPr>
              <a:t>FINDING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82" b="0" i="0">
                <a:solidFill>
                  <a:srgbClr val="6B7280"/>
                </a:solidFill>
                <a:latin typeface="Times New Roman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 spc="80">
                <a:solidFill>
                  <a:srgbClr val="B23A2B"/>
                </a:solidFill>
                <a:latin typeface="Times New Roman"/>
              </a:rPr>
              <a:t>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6B7280"/>
                </a:solidFill>
                <a:latin typeface="Times New Roman"/>
              </a:rPr>
              <a:t>Upgrade premium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0574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35" b="1" i="0">
                <a:solidFill>
                  <a:srgbClr val="B23A2B"/>
                </a:solidFill>
                <a:latin typeface="Times New Roman"/>
              </a:rPr>
              <a:t>+0.39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10312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0" i="0">
                <a:solidFill>
                  <a:srgbClr val="6B7280"/>
                </a:solidFill>
                <a:latin typeface="Times New Roman"/>
              </a:rPr>
              <a:t>p = 0.021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87168"/>
            <a:ext cx="53949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Interaction -0.29 (p = 0.197)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54679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6B7280"/>
                </a:solidFill>
                <a:latin typeface="Times New Roman"/>
              </a:rPr>
              <a:t>5-day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1089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35" b="1" i="0">
                <a:solidFill>
                  <a:srgbClr val="B23A2B"/>
                </a:solidFill>
                <a:latin typeface="Times New Roman"/>
              </a:rPr>
              <a:t>+0.58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154679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0" i="0">
                <a:solidFill>
                  <a:srgbClr val="6B7280"/>
                </a:solidFill>
                <a:latin typeface="Times New Roman"/>
              </a:rPr>
              <a:t>p = 0.014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38727"/>
            <a:ext cx="53949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Interaction -0.70 (p = 0.025)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6B7280"/>
                </a:solidFill>
                <a:latin typeface="Times New Roman"/>
              </a:rPr>
              <a:t>Abnormal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1605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35" b="1" i="0">
                <a:solidFill>
                  <a:srgbClr val="B23A2B"/>
                </a:solidFill>
                <a:latin typeface="Times New Roman"/>
              </a:rPr>
              <a:t>+0.049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20624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0" i="0">
                <a:solidFill>
                  <a:srgbClr val="6B7280"/>
                </a:solidFill>
                <a:latin typeface="Times New Roman"/>
              </a:rPr>
              <a:t>p = 0.009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90288"/>
            <a:ext cx="53949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Interaction -0.057 (p = 0.041)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89320" y="1783080"/>
            <a:ext cx="0" cy="3566160"/>
          </a:xfrm>
          <a:prstGeom prst="line">
            <a:avLst/>
          </a:prstGeom>
          <a:ln w="9525">
            <a:solidFill>
              <a:srgbClr val="D8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0" y="178308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 spc="80">
                <a:solidFill>
                  <a:srgbClr val="B23A2B"/>
                </a:solidFill>
                <a:latin typeface="Times New Roman"/>
              </a:rPr>
              <a:t>BROKER 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0312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6B7280"/>
                </a:solidFill>
                <a:latin typeface="Times New Roman"/>
              </a:rPr>
              <a:t>Top-tier star upgrade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0574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35" b="1" i="0">
                <a:solidFill>
                  <a:srgbClr val="1F2A44"/>
                </a:solidFill>
                <a:latin typeface="Times New Roman"/>
              </a:rPr>
              <a:t>+0.55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210312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0" i="0">
                <a:solidFill>
                  <a:srgbClr val="6B7280"/>
                </a:solidFill>
                <a:latin typeface="Times New Roman"/>
              </a:rPr>
              <a:t>p = 0.017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48716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Top vs mid -0.63 (p = 0.072)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15467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6B7280"/>
                </a:solidFill>
                <a:latin typeface="Times New Roman"/>
              </a:rPr>
              <a:t>Mid-tier star downgrade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31089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35" b="1" i="0">
                <a:solidFill>
                  <a:srgbClr val="1F2A44"/>
                </a:solidFill>
                <a:latin typeface="Times New Roman"/>
              </a:rPr>
              <a:t>+0.62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3154679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0" i="0">
                <a:solidFill>
                  <a:srgbClr val="6B7280"/>
                </a:solidFill>
                <a:latin typeface="Times New Roman"/>
              </a:rPr>
              <a:t>p = 0.007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20624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6B7280"/>
                </a:solidFill>
                <a:latin typeface="Times New Roman"/>
              </a:rPr>
              <a:t>Rolling tier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41605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35" b="1" i="0">
                <a:solidFill>
                  <a:srgbClr val="1F2A44"/>
                </a:solidFill>
                <a:latin typeface="Times New Roman"/>
              </a:rPr>
              <a:t>23.1%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420624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0" i="0">
                <a:solidFill>
                  <a:srgbClr val="6B7280"/>
                </a:solidFill>
                <a:latin typeface="Times New Roman"/>
              </a:rPr>
              <a:t>reclassified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59028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Top +0.49 (p=.046); mid +0.33 (p=.129)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39496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47" b="0" i="0">
                <a:solidFill>
                  <a:srgbClr val="6B7280"/>
                </a:solidFill>
                <a:latin typeface="Times New Roman"/>
              </a:rPr>
              <a:t>Regression estimates with controls; raw differences are in Finding 1.
Small tier: 2 star upgrades, 0 star downgrades; excluded from interaction models.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55" b="1" i="0">
                <a:solidFill>
                  <a:srgbClr val="B23A2B"/>
                </a:solidFill>
                <a:latin typeface="Times New Roman"/>
              </a:rPr>
              <a:t>Tier is descriptive, not causal. Star and tier are highly collinear.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1" i="0" spc="100">
                <a:solidFill>
                  <a:srgbClr val="6B7280"/>
                </a:solidFill>
                <a:latin typeface="Times New Roman"/>
              </a:rPr>
              <a:t>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24" b="1" i="0">
                <a:solidFill>
                  <a:srgbClr val="1F2A44"/>
                </a:solidFill>
                <a:latin typeface="Times New Roman"/>
              </a:rPr>
              <a:t>The headline survives three checks.
Price limits are the boundary.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81328"/>
            <a:ext cx="10908792" cy="0"/>
          </a:xfrm>
          <a:prstGeom prst="line">
            <a:avLst/>
          </a:prstGeom>
          <a:ln w="15875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47" b="0" i="0" spc="60">
                <a:solidFill>
                  <a:srgbClr val="6B7280"/>
                </a:solidFill>
                <a:latin typeface="Times New Roman"/>
              </a:rPr>
              <a:t>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82" b="0" i="0">
                <a:solidFill>
                  <a:srgbClr val="6B7280"/>
                </a:solidFill>
                <a:latin typeface="Times New Roman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383280" cy="1481328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45720" cy="148132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20240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82" b="1" i="0" spc="60">
                <a:solidFill>
                  <a:srgbClr val="6B7280"/>
                </a:solidFill>
                <a:latin typeface="Times New Roman"/>
              </a:rPr>
              <a:t>SUSPENSION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402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85" b="0" i="0">
                <a:solidFill>
                  <a:srgbClr val="1F2A44"/>
                </a:solidFill>
                <a:latin typeface="Times New Roman"/>
              </a:rPr>
              <a:t>0.37 -&gt; 0.37; 0.99 -&gt; 0.99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783080"/>
            <a:ext cx="3383280" cy="1481328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783080"/>
            <a:ext cx="45720" cy="148132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920240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82" b="1" i="0" spc="60">
                <a:solidFill>
                  <a:srgbClr val="6B7280"/>
                </a:solidFill>
                <a:latin typeface="Times New Roman"/>
              </a:rPr>
              <a:t>CLUSTERING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402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85" b="0" i="0">
                <a:solidFill>
                  <a:srgbClr val="1F2A44"/>
                </a:solidFill>
                <a:latin typeface="Times New Roman"/>
              </a:rPr>
              <a:t>p = 0.035 / 0.028 / 0.0006; no 5% sign changes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1783080"/>
            <a:ext cx="3383280" cy="1481328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1783080"/>
            <a:ext cx="45720" cy="148132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9" y="1920240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82" b="1" i="0" spc="60">
                <a:solidFill>
                  <a:srgbClr val="6B7280"/>
                </a:solidFill>
                <a:latin typeface="Times New Roman"/>
              </a:rPr>
              <a:t>ST PROXY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22402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85" b="0" i="0">
                <a:solidFill>
                  <a:srgbClr val="1F2A44"/>
                </a:solidFill>
                <a:latin typeface="Times New Roman"/>
              </a:rPr>
              <a:t>4,915 stock-days flagged; short-window unchanged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474720"/>
            <a:ext cx="3383280" cy="1481328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474720"/>
            <a:ext cx="45720" cy="148132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3611879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82" b="1" i="0" spc="60">
                <a:solidFill>
                  <a:srgbClr val="6B7280"/>
                </a:solidFill>
                <a:latin typeface="Times New Roman"/>
              </a:rPr>
              <a:t>ALTERNATIVE STAR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393192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85" b="0" i="0">
                <a:solidFill>
                  <a:srgbClr val="1F2A44"/>
                </a:solidFill>
                <a:latin typeface="Times New Roman"/>
              </a:rPr>
              <a:t>same-year, month, lag1; 2018 in-force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3474720"/>
            <a:ext cx="3383280" cy="1481328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3474720"/>
            <a:ext cx="45720" cy="148132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611879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82" b="1" i="0" spc="60">
                <a:solidFill>
                  <a:srgbClr val="6B7280"/>
                </a:solidFill>
                <a:latin typeface="Times New Roman"/>
              </a:rPr>
              <a:t>ROLLING TIER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93192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85" b="0" i="0">
                <a:solidFill>
                  <a:srgbClr val="1F2A44"/>
                </a:solidFill>
                <a:latin typeface="Times New Roman"/>
              </a:rPr>
              <a:t>23.1% reclassified; tier significance unstable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3474720"/>
            <a:ext cx="3383280" cy="1481328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63840" y="3474720"/>
            <a:ext cx="45720" cy="1481328"/>
          </a:xfrm>
          <a:prstGeom prst="rect">
            <a:avLst/>
          </a:prstGeom>
          <a:solidFill>
            <a:srgbClr val="B2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9" y="3611879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82" b="1" i="0" spc="60">
                <a:solidFill>
                  <a:srgbClr val="6B7280"/>
                </a:solidFill>
                <a:latin typeface="Times New Roman"/>
              </a:rPr>
              <a:t>REPLICATION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9" y="393192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85" b="0" i="0">
                <a:solidFill>
                  <a:srgbClr val="1F2A44"/>
                </a:solidFill>
                <a:latin typeface="Times New Roman"/>
              </a:rPr>
              <a:t>max abs diff ~1e-13; event dates and N match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44068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85" b="1" i="0">
                <a:solidFill>
                  <a:srgbClr val="B23A2B"/>
                </a:solidFill>
                <a:latin typeface="Times New Roman"/>
              </a:rPr>
              <a:t>Raw price-limit check: 0.37 -&gt; 0.21 (p = 0.134); 0.54 -&gt; 0.20 (p = 0.310); 0.99 -&gt; 0.65 (p = 0.008).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9788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0" i="0">
                <a:solidFill>
                  <a:srgbClr val="6B7280"/>
                </a:solidFill>
                <a:latin typeface="Times New Roman"/>
              </a:rPr>
              <a:t>Bonferroni across 30 main specifications: five results survive at p &lt; 0.0017.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1" i="0" spc="100">
                <a:solidFill>
                  <a:srgbClr val="6B7280"/>
                </a:solidFill>
                <a:latin typeface="Times New Roman"/>
              </a:rPr>
              <a:t>WHAT DOES THIS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24" b="1" i="0">
                <a:solidFill>
                  <a:srgbClr val="1F2A44"/>
                </a:solidFill>
                <a:latin typeface="Times New Roman"/>
              </a:rPr>
              <a:t>The market follows the label, not the forecast.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81328"/>
            <a:ext cx="10908792" cy="0"/>
          </a:xfrm>
          <a:prstGeom prst="line">
            <a:avLst/>
          </a:prstGeom>
          <a:ln w="15875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47" b="0" i="0" spc="60">
                <a:solidFill>
                  <a:srgbClr val="6B7280"/>
                </a:solidFill>
                <a:latin typeface="Times New Roman"/>
              </a:rPr>
              <a:t>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82" b="0" i="0">
                <a:solidFill>
                  <a:srgbClr val="6B7280"/>
                </a:solidFill>
                <a:latin typeface="Times New Roman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349240" cy="3337560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93775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2" b="1" i="0" spc="60">
                <a:solidFill>
                  <a:srgbClr val="1F2A44"/>
                </a:solidFill>
                <a:latin typeface="Times New Roman"/>
              </a:rPr>
              <a:t>INFORMATION 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13432"/>
            <a:ext cx="4937759" cy="2651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755" b="0" i="0">
                <a:solidFill>
                  <a:srgbClr val="1F2A44"/>
                </a:solidFill>
                <a:latin typeface="Times New Roman"/>
              </a:rPr>
              <a:t>Better access and skill -&gt; larger reaction -&gt; continued drift -&gt; better forecasts.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6B7280"/>
                </a:solidFill>
                <a:latin typeface="Times New Roman"/>
              </a:rPr>
              <a:t>Supported by short-run holding returns. Contradicted by larger forecast errors and no 12-month persistence.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783080"/>
            <a:ext cx="5349240" cy="3337560"/>
          </a:xfrm>
          <a:prstGeom prst="rect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4937759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2" b="1" i="0" spc="60">
                <a:solidFill>
                  <a:srgbClr val="B23A2B"/>
                </a:solidFill>
                <a:latin typeface="Times New Roman"/>
              </a:rPr>
              <a:t>INFLUENCE 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13432"/>
            <a:ext cx="4937759" cy="2651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755" b="0" i="0">
                <a:solidFill>
                  <a:srgbClr val="1F2A44"/>
                </a:solidFill>
                <a:latin typeface="Times New Roman"/>
              </a:rPr>
              <a:t>Status -&gt; attention -&gt; trading -&gt; price impact -&gt; no accuracy edge -&gt; partial reversal.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6B7280"/>
                </a:solidFill>
                <a:latin typeface="Times New Roman"/>
              </a:rPr>
              <a:t>Supported by the announcement premium and downgrade drift. Not pure influence, because short-run returns exist.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65" b="1" i="0">
                <a:solidFill>
                  <a:srgbClr val="B23A2B"/>
                </a:solidFill>
                <a:latin typeface="Times New Roman"/>
              </a:rPr>
              <a:t>Verdict: influence with a short-lived information component.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1" i="0" spc="100">
                <a:solidFill>
                  <a:srgbClr val="6B7280"/>
                </a:solidFill>
                <a:latin typeface="Times New Roman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24" b="1" i="0">
                <a:solidFill>
                  <a:srgbClr val="1F2A44"/>
                </a:solidFill>
                <a:latin typeface="Times New Roman"/>
              </a:rPr>
              <a:t>Stars move markets without better forecasts.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81328"/>
            <a:ext cx="10908792" cy="0"/>
          </a:xfrm>
          <a:prstGeom prst="line">
            <a:avLst/>
          </a:prstGeom>
          <a:ln w="15875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47" b="0" i="0" spc="60">
                <a:solidFill>
                  <a:srgbClr val="6B7280"/>
                </a:solidFill>
                <a:latin typeface="Times New Roman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82" b="0" i="0">
                <a:solidFill>
                  <a:srgbClr val="6B7280"/>
                </a:solidFill>
                <a:latin typeface="Times New Roman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590" b="1" i="0">
                <a:solidFill>
                  <a:srgbClr val="B23A2B"/>
                </a:solidFill>
                <a:latin typeface="Times New Roma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01368"/>
            <a:ext cx="1005840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60" b="0" i="0">
                <a:solidFill>
                  <a:srgbClr val="1F2A44"/>
                </a:solidFill>
                <a:latin typeface="Times New Roman"/>
              </a:rPr>
              <a:t>Announcement: +0.37 pp and +0.053 log volume on star upgrades; no downgrade premium.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590" b="1" i="0">
                <a:solidFill>
                  <a:srgbClr val="B23A2B"/>
                </a:solidFill>
                <a:latin typeface="Times New Roman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898648"/>
            <a:ext cx="1005840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60" b="0" i="0">
                <a:solidFill>
                  <a:srgbClr val="1F2A44"/>
                </a:solidFill>
                <a:latin typeface="Times New Roman"/>
              </a:rPr>
              <a:t>Persistence: -1.64 pp drift after star downgrades, then reversal; no upgrade drift.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3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590" b="1" i="0">
                <a:solidFill>
                  <a:srgbClr val="B23A2B"/>
                </a:solidFill>
                <a:latin typeface="Times New Roman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995927"/>
            <a:ext cx="1005840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60" b="0" i="0">
                <a:solidFill>
                  <a:srgbClr val="1F2A44"/>
                </a:solidFill>
                <a:latin typeface="Times New Roman"/>
              </a:rPr>
              <a:t>Accuracy: larger absolute forecast errors in all four cells; holding edge only short-lived.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25" b="1" i="0">
                <a:solidFill>
                  <a:srgbClr val="1F2A44"/>
                </a:solidFill>
                <a:latin typeface="Times New Roman"/>
              </a:rPr>
              <a:t>Reputation can coordinate attention without improving information.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17" b="1" i="0" spc="100">
                <a:solidFill>
                  <a:srgbClr val="6B7280"/>
                </a:solidFill>
                <a:latin typeface="Times New Roman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24" b="1" i="0">
                <a:solidFill>
                  <a:srgbClr val="1F2A44"/>
                </a:solidFill>
                <a:latin typeface="Times New Roman"/>
              </a:rPr>
              <a:t>Definitions, data, and the tests behind the headline.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481328"/>
            <a:ext cx="10908792" cy="0"/>
          </a:xfrm>
          <a:prstGeom prst="line">
            <a:avLst/>
          </a:prstGeom>
          <a:ln w="15875">
            <a:solidFill>
              <a:srgbClr val="1F2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64922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47" b="0" i="0" spc="60">
                <a:solidFill>
                  <a:srgbClr val="6B7280"/>
                </a:solidFill>
                <a:latin typeface="Times New Roman"/>
              </a:rPr>
              <a:t>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82" b="0" i="0">
                <a:solidFill>
                  <a:srgbClr val="6B7280"/>
                </a:solidFill>
                <a:latin typeface="Times New Roman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82" b="1" i="0" spc="70">
                <a:solidFill>
                  <a:srgbClr val="B23A2B"/>
                </a:solidFill>
                <a:latin typeface="Times New Roman"/>
              </a:rPr>
              <a:t>DEFINITIONS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3383280" cy="3383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star: New Fortune list in force, 2018 inherits 2017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seniority: years since first report, 2009 floor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tier: cumulative rating-record share, 50% / 90%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CAR: sum of market-adjusted returns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AV: log volume minus [-120,-11] mean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783080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82" b="1" i="0" spc="70">
                <a:solidFill>
                  <a:srgbClr val="B23A2B"/>
                </a:solidFill>
                <a:latin typeface="Times New Roman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148840"/>
            <a:ext cx="3383280" cy="3383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iFinD THS_iwencai, 2018-2024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Dretwd total returns; H00300 market index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20,980 events; 2,683 stocks; 2,171 analysts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20,248 events matched to forecasts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FY0 20,067; FY1 19,626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783080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82" b="1" i="0" spc="70">
                <a:solidFill>
                  <a:srgbClr val="B23A2B"/>
                </a:solidFill>
                <a:latin typeface="Times New Roman"/>
              </a:rPr>
              <a:t>EXTRA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148840"/>
            <a:ext cx="3383280" cy="3383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stock-clustered p-values for all main tests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Bonferroni: five survivors at p &lt; 0.0017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suspension, ST, price-limit, rolling-tier checks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independent replication: max diff ~1e-13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17" b="0" i="0">
                <a:solidFill>
                  <a:srgbClr val="1F2A44"/>
                </a:solidFill>
                <a:latin typeface="Times New Roman"/>
              </a:rPr>
              <a:t>full tables in the written report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5623560"/>
            <a:ext cx="10908792" cy="0"/>
          </a:xfrm>
          <a:prstGeom prst="line">
            <a:avLst/>
          </a:prstGeom>
          <a:ln w="9525">
            <a:solidFill>
              <a:srgbClr val="D8D4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82" b="0" i="0">
                <a:solidFill>
                  <a:srgbClr val="6B7280"/>
                </a:solidFill>
                <a:latin typeface="Times New Roman"/>
              </a:rPr>
              <a:t>Q&amp;A map: Q1 7-8; Q2 9; Q3 10; Q4 11. Data source, event definition, endogeneity, alternatives, multiple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Investors Follow Authority?</dc:title>
  <dc:subject>FIN4080 Project 10, star analyst recommendations in China</dc:subject>
  <dc:creator>FIN4080 Group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